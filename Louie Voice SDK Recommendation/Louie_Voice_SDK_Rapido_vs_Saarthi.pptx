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3B3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321040" y="0"/>
            <a:ext cx="4206240" cy="6858000"/>
          </a:xfrm>
          <a:prstGeom prst="rect">
            <a:avLst/>
          </a:prstGeom>
          <a:solidFill>
            <a:srgbClr val="1B2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21040" y="0"/>
            <a:ext cx="50800" cy="6858000"/>
          </a:xfrm>
          <a:prstGeom prst="rect">
            <a:avLst/>
          </a:prstGeom>
          <a:solidFill>
            <a:srgbClr val="00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0B38A"/>
                </a:solidFill>
                <a:latin typeface="Calibri"/>
              </a:rPr>
              <a:t>LOUIE VOICE SDK  ·  STRATEGIC 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73152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Rapido over Saarthi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0" i="0">
                <a:solidFill>
                  <a:srgbClr val="9A9FB3"/>
                </a:solidFill>
                <a:latin typeface="Calibri"/>
              </a:rPr>
              <a:t>Which app should we voice-enable first?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7132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 resource-crunch decision, made on first principles: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CFD3E6"/>
                </a:solidFill>
                <a:latin typeface="Calibri"/>
              </a:rPr>
              <a:t>Play to our core differentiator — end-to-end voice transactions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CFD3E6"/>
                </a:solidFill>
                <a:latin typeface="Calibri"/>
              </a:rPr>
              <a:t>Maximise reach — mass-market, habitual, low-deliberation usage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CFD3E6"/>
                </a:solidFill>
                <a:latin typeface="Calibri"/>
              </a:rPr>
              <a:t>Deliver inclusion impact — a universal everyday need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246888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3B3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23960" y="2468880"/>
            <a:ext cx="3200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2971800"/>
            <a:ext cx="3200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9A9FB3"/>
                </a:solidFill>
                <a:latin typeface="Calibri"/>
              </a:rPr>
              <a:t>GO WITH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00B38A"/>
                </a:solidFill>
                <a:latin typeface="Calibri"/>
              </a:rPr>
              <a:t>RAPIDO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420624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CFD3E6"/>
                </a:solidFill>
                <a:latin typeface="Calibri"/>
              </a:rPr>
              <a:t>Bike-Taxi, Auto &amp; Cabs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9A9FB3"/>
                </a:solidFill>
                <a:latin typeface="Calibri"/>
              </a:rPr>
              <a:t>Prepared by:  [Your Name]   |   Role: Business Analyst   |   Date: [DD Mon YYYY]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1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00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38A"/>
                </a:solidFill>
                <a:latin typeface="Calibri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The recommendation in one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222536"/>
                </a:solidFill>
                <a:latin typeface="Calibri"/>
              </a:rPr>
              <a:t>Choose </a:t>
            </a:r>
            <a:r>
              <a:rPr sz="1800" b="1" i="0">
                <a:solidFill>
                  <a:srgbClr val="00B38A"/>
                </a:solidFill>
                <a:latin typeface="Calibri"/>
              </a:rPr>
              <a:t>Rapido</a:t>
            </a:r>
            <a:r>
              <a:rPr sz="1800" b="0" i="0">
                <a:solidFill>
                  <a:srgbClr val="222536"/>
                </a:solidFill>
                <a:latin typeface="Calibri"/>
              </a:rPr>
              <a:t>. It is the only one of the two apps whose core user journey is an </a:t>
            </a:r>
            <a:r>
              <a:rPr sz="1800" b="1" i="0">
                <a:solidFill>
                  <a:srgbClr val="222536"/>
                </a:solidFill>
                <a:latin typeface="Calibri"/>
              </a:rPr>
              <a:t>end-to-end transaction</a:t>
            </a:r>
            <a:r>
              <a:rPr sz="1800" b="0" i="0">
                <a:solidFill>
                  <a:srgbClr val="222536"/>
                </a:solidFill>
                <a:latin typeface="Calibri"/>
              </a:rPr>
              <a:t> — exactly the capability that makes Louie unique.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468880"/>
            <a:ext cx="2697480" cy="324612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2697480" cy="76200"/>
          </a:xfrm>
          <a:prstGeom prst="rect">
            <a:avLst/>
          </a:prstGeom>
          <a:solidFill>
            <a:srgbClr val="00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69748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0B38A"/>
                </a:solidFill>
                <a:latin typeface="Calibri"/>
              </a:rPr>
              <a:t>Differentiator 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83280"/>
            <a:ext cx="2331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2536"/>
                </a:solidFill>
                <a:latin typeface="Calibri"/>
              </a:rPr>
              <a:t>Rapido = book → confirm → pay → ride, a true end-to-end transaction. Saarthi is an awareness / education app — there is no transaction to complete.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0712" y="2468880"/>
            <a:ext cx="2697480" cy="324612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10712" y="2468880"/>
            <a:ext cx="2697480" cy="76200"/>
          </a:xfrm>
          <a:prstGeom prst="rect">
            <a:avLst/>
          </a:prstGeom>
          <a:solidFill>
            <a:srgbClr val="3B3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93592" y="269748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3B3DBF"/>
                </a:solidFill>
                <a:latin typeface="Calibri"/>
              </a:rPr>
              <a:t>Decision simplicity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3383280"/>
            <a:ext cx="2331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2536"/>
                </a:solidFill>
                <a:latin typeface="Calibri"/>
              </a:rPr>
              <a:t>A ride is a low-stakes, habitual command (“Book an auto home”). Investing is high-stakes deliberation that users will not hand to voice.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2784" y="2468880"/>
            <a:ext cx="2697480" cy="324612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72784" y="2468880"/>
            <a:ext cx="2697480" cy="762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269748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5A623"/>
                </a:solidFill>
                <a:latin typeface="Calibri"/>
              </a:rPr>
              <a:t>Market reach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383280"/>
            <a:ext cx="2331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2536"/>
                </a:solidFill>
                <a:latin typeface="Calibri"/>
              </a:rPr>
              <a:t>Hundreds of millions ride; only a small, mostly urban minority of India invests — and even fewer invest impulsively.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34856" y="2468880"/>
            <a:ext cx="2697480" cy="324612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34856" y="2468880"/>
            <a:ext cx="2697480" cy="76200"/>
          </a:xfrm>
          <a:prstGeom prst="rect">
            <a:avLst/>
          </a:prstGeom>
          <a:solidFill>
            <a:srgbClr val="D64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17736" y="269748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D64F4F"/>
                </a:solidFill>
                <a:latin typeface="Calibri"/>
              </a:rPr>
              <a:t>Inclusion impact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6" y="3383280"/>
            <a:ext cx="2331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2536"/>
                </a:solidFill>
                <a:latin typeface="Calibri"/>
              </a:rPr>
              <a:t>Mobility is a universal daily need. Voice unlocks it for low-literacy, vernacular and visually-impaired users far more broadly than investing does.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9A9FB3"/>
                </a:solidFill>
                <a:latin typeface="Calibri"/>
              </a:rPr>
              <a:t>Louie Voice SDK  |  Strategic Project Selection  |  Confidential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A9FB3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1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3B3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B3DBF"/>
                </a:solidFill>
                <a:latin typeface="Calibri"/>
              </a:rPr>
              <a:t>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The decision we have been asked to make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222536"/>
                </a:solidFill>
                <a:latin typeface="Calibri"/>
              </a:rPr>
              <a:t>Two apps have approached us to voice-enable their product. Due to ongoing commitments, we can onboard </a:t>
            </a:r>
            <a:r>
              <a:rPr sz="1600" b="1" i="0">
                <a:solidFill>
                  <a:srgbClr val="222536"/>
                </a:solidFill>
                <a:latin typeface="Calibri"/>
              </a:rPr>
              <a:t>only one</a:t>
            </a:r>
            <a:r>
              <a:rPr sz="1600" b="0" i="0">
                <a:solidFill>
                  <a:srgbClr val="222536"/>
                </a:solidFill>
                <a:latin typeface="Calibri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77440"/>
            <a:ext cx="5394960" cy="2788920"/>
          </a:xfrm>
          <a:prstGeom prst="rect">
            <a:avLst/>
          </a:prstGeom>
          <a:solidFill>
            <a:srgbClr val="FFFFFF"/>
          </a:solidFill>
          <a:ln w="19050">
            <a:solidFill>
              <a:srgbClr val="3B3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377440"/>
            <a:ext cx="5394960" cy="685800"/>
          </a:xfrm>
          <a:prstGeom prst="rect">
            <a:avLst/>
          </a:prstGeom>
          <a:solidFill>
            <a:srgbClr val="3B3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4937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Saarthi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004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B3DBF"/>
                </a:solidFill>
                <a:latin typeface="Calibri"/>
              </a:rPr>
              <a:t>Investment awareness app by SEBI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6118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222536"/>
                </a:solidFill>
                <a:latin typeface="Calibri"/>
              </a:rPr>
              <a:t>Purpose: educate &amp; spread investor awareness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222536"/>
                </a:solidFill>
                <a:latin typeface="Calibri"/>
              </a:rPr>
              <a:t>Content-led: articles, videos, quizzes, info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222536"/>
                </a:solidFill>
                <a:latin typeface="Calibri"/>
              </a:rPr>
              <a:t>Audience: existing / aspiring retail investors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377440"/>
            <a:ext cx="5394960" cy="2788920"/>
          </a:xfrm>
          <a:prstGeom prst="rect">
            <a:avLst/>
          </a:prstGeom>
          <a:solidFill>
            <a:srgbClr val="FFFFFF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2377440"/>
            <a:ext cx="5394960" cy="6858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377440"/>
            <a:ext cx="4937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Rapido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2004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5A623"/>
                </a:solidFill>
                <a:latin typeface="Calibri"/>
              </a:rPr>
              <a:t>Bike-Taxi, Auto &amp; Cabs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6118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222536"/>
                </a:solidFill>
                <a:latin typeface="Calibri"/>
              </a:rPr>
              <a:t>Purpose: book and complete a ride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222536"/>
                </a:solidFill>
                <a:latin typeface="Calibri"/>
              </a:rPr>
              <a:t>Transaction-led: search → book → pay → travel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222536"/>
                </a:solidFill>
                <a:latin typeface="Calibri"/>
              </a:rPr>
              <a:t>Audience: mass-market daily commuters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4924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41B41"/>
                </a:solidFill>
                <a:latin typeface="Calibri"/>
              </a:rPr>
              <a:t>The question: </a:t>
            </a:r>
            <a:r>
              <a:rPr sz="1500" b="0" i="0">
                <a:solidFill>
                  <a:srgbClr val="222536"/>
                </a:solidFill>
                <a:latin typeface="Calibri"/>
              </a:rPr>
              <a:t>Which single app best lets Louie leverage its strengths and core differentiators?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9A9FB3"/>
                </a:solidFill>
                <a:latin typeface="Calibri"/>
              </a:rPr>
              <a:t>Louie Voice SDK  |  Strategic Project Selection  |  Confidential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A9FB3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1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00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38A"/>
                </a:solidFill>
                <a:latin typeface="Calibri"/>
              </a:rPr>
              <a:t>OUR DECISION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The CEO's guiding principle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11064240" cy="155448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76200" cy="1554480"/>
          </a:xfrm>
          <a:prstGeom prst="rect">
            <a:avLst/>
          </a:prstGeom>
          <a:solidFill>
            <a:srgbClr val="00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104241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222536"/>
                </a:solidFill>
                <a:latin typeface="Calibri"/>
              </a:rPr>
              <a:t>“Whenever we are in a resource crunch, always select the project that lets us </a:t>
            </a:r>
            <a:r>
              <a:rPr sz="2000" b="1" i="0">
                <a:solidFill>
                  <a:srgbClr val="00B38A"/>
                </a:solidFill>
                <a:latin typeface="Calibri"/>
              </a:rPr>
              <a:t>leverage our strengths and our core differentiators</a:t>
            </a:r>
            <a:r>
              <a:rPr sz="2000" b="1" i="0">
                <a:solidFill>
                  <a:srgbClr val="222536"/>
                </a:solidFill>
                <a:latin typeface="Calibri"/>
              </a:rPr>
              <a:t>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4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41B41"/>
                </a:solidFill>
                <a:latin typeface="Calibri"/>
              </a:rPr>
              <a:t>So the whole decision reduces to one test: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11064240" cy="1371600"/>
          </a:xfrm>
          <a:prstGeom prst="rect">
            <a:avLst/>
          </a:prstGeom>
          <a:solidFill>
            <a:srgbClr val="141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1042416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0">
                <a:solidFill>
                  <a:srgbClr val="FFFFFF"/>
                </a:solidFill>
                <a:latin typeface="Calibri"/>
              </a:rPr>
              <a:t>Which app's core journey is an </a:t>
            </a:r>
            <a:r>
              <a:rPr sz="2200" b="1" i="0">
                <a:solidFill>
                  <a:srgbClr val="00B38A"/>
                </a:solidFill>
                <a:latin typeface="Calibri"/>
              </a:rPr>
              <a:t>end-to-end transaction in the user's own language</a:t>
            </a:r>
            <a:r>
              <a:rPr sz="2200" b="0" i="0">
                <a:solidFill>
                  <a:srgbClr val="FFFFFF"/>
                </a:solidFill>
                <a:latin typeface="Calibri"/>
              </a:rPr>
              <a:t> — our single biggest differentiator?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9A9FB3"/>
                </a:solidFill>
                <a:latin typeface="Calibri"/>
              </a:rPr>
              <a:t>Louie Voice SDK  |  Strategic Project Selection  | 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A9FB3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1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3B3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B3DBF"/>
                </a:solidFill>
                <a:latin typeface="Calibri"/>
              </a:rPr>
              <a:t>WHAT MAKES US 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Louie's core differentiators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440680" cy="201168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28016" cy="2011680"/>
          </a:xfrm>
          <a:prstGeom prst="rect">
            <a:avLst/>
          </a:prstGeom>
          <a:solidFill>
            <a:srgbClr val="00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0B38A"/>
                </a:solidFill>
                <a:latin typeface="Calibri"/>
              </a:rPr>
              <a:t>End-to-end transactions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23160"/>
            <a:ext cx="4937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22536"/>
                </a:solidFill>
                <a:latin typeface="Calibri"/>
              </a:rPr>
              <a:t>Not just answering questions — Louie completes the whole task by voice, from intent to confirmation.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554480"/>
            <a:ext cx="5440680" cy="201168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554480"/>
            <a:ext cx="128016" cy="2011680"/>
          </a:xfrm>
          <a:prstGeom prst="rect">
            <a:avLst/>
          </a:prstGeom>
          <a:solidFill>
            <a:srgbClr val="3B3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78308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3B3DBF"/>
                </a:solidFill>
                <a:latin typeface="Calibri"/>
              </a:rPr>
              <a:t>Multilingual by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423160"/>
            <a:ext cx="4937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22536"/>
                </a:solidFill>
                <a:latin typeface="Calibri"/>
              </a:rPr>
              <a:t>Delivers a voice interface in many Indian languages, even when the app itself is English-only.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94760"/>
            <a:ext cx="5440680" cy="201168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794760"/>
            <a:ext cx="128016" cy="201168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02336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5A623"/>
                </a:solidFill>
                <a:latin typeface="Calibri"/>
              </a:rPr>
              <a:t>No global direct competitor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663440"/>
            <a:ext cx="4937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22536"/>
                </a:solidFill>
                <a:latin typeface="Calibri"/>
              </a:rPr>
              <a:t>Google Assistant, Alexa and Siri trigger steps but do not complete end-to-end transactions.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794760"/>
            <a:ext cx="5440680" cy="201168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3794760"/>
            <a:ext cx="128016" cy="2011680"/>
          </a:xfrm>
          <a:prstGeom prst="rect">
            <a:avLst/>
          </a:prstGeom>
          <a:solidFill>
            <a:srgbClr val="D64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02336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D64F4F"/>
                </a:solidFill>
                <a:latin typeface="Calibri"/>
              </a:rPr>
              <a:t>Sector-agnostic plug-in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663440"/>
            <a:ext cx="4937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22536"/>
                </a:solidFill>
                <a:latin typeface="Calibri"/>
              </a:rPr>
              <a:t>One SDK that voice-enables any mobile app on Android &amp; iOS.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41B41"/>
                </a:solidFill>
                <a:latin typeface="Calibri"/>
              </a:rPr>
              <a:t>Implication: </a:t>
            </a:r>
            <a:r>
              <a:rPr sz="1300" b="0" i="0">
                <a:solidFill>
                  <a:srgbClr val="5B6177"/>
                </a:solidFill>
                <a:latin typeface="Calibri"/>
              </a:rPr>
              <a:t>our value is highest where there is a real transaction to complete by voice.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9A9FB3"/>
                </a:solidFill>
                <a:latin typeface="Calibri"/>
              </a:rPr>
              <a:t>Louie Voice SDK  |  Strategic Project Selection  |  Confidential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A9FB3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1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3B3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B3DBF"/>
                </a:solidFill>
                <a:latin typeface="Calibri"/>
              </a:rPr>
              <a:t>APP SNAPSHOT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Saarthi — investment awareness (SEBI)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828800" cy="3657600"/>
          </a:xfrm>
          <a:prstGeom prst="rect">
            <a:avLst/>
          </a:prstGeom>
          <a:solidFill>
            <a:srgbClr val="F4F5FA"/>
          </a:solidFill>
          <a:ln w="15875">
            <a:solidFill>
              <a:srgbClr val="9A9FB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6177"/>
                </a:solidFill>
                <a:latin typeface="Calibri"/>
              </a:rPr>
              <a:t>[ Paste screenshot here 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A9FB3"/>
                </a:solidFill>
                <a:latin typeface="Calibri"/>
              </a:rPr>
              <a:t>Home / learn feed</a:t>
            </a:r>
          </a:p>
        </p:txBody>
      </p:sp>
      <p:sp>
        <p:nvSpPr>
          <p:cNvPr id="8" name="Rectangle 7"/>
          <p:cNvSpPr/>
          <p:nvPr/>
        </p:nvSpPr>
        <p:spPr>
          <a:xfrm>
            <a:off x="2514600" y="1463040"/>
            <a:ext cx="1828800" cy="3657600"/>
          </a:xfrm>
          <a:prstGeom prst="rect">
            <a:avLst/>
          </a:prstGeom>
          <a:solidFill>
            <a:srgbClr val="F4F5FA"/>
          </a:solidFill>
          <a:ln w="15875">
            <a:solidFill>
              <a:srgbClr val="9A9FB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14600" y="306324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6177"/>
                </a:solidFill>
                <a:latin typeface="Calibri"/>
              </a:rPr>
              <a:t>[ Paste screenshot here 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A9FB3"/>
                </a:solidFill>
                <a:latin typeface="Calibri"/>
              </a:rPr>
              <a:t>Article / video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463040"/>
            <a:ext cx="1828800" cy="3657600"/>
          </a:xfrm>
          <a:prstGeom prst="rect">
            <a:avLst/>
          </a:prstGeom>
          <a:solidFill>
            <a:srgbClr val="F4F5FA"/>
          </a:solidFill>
          <a:ln w="15875">
            <a:solidFill>
              <a:srgbClr val="9A9FB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306324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6177"/>
                </a:solidFill>
                <a:latin typeface="Calibri"/>
              </a:rPr>
              <a:t>[ Paste screenshot here 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A9FB3"/>
                </a:solidFill>
                <a:latin typeface="Calibri"/>
              </a:rPr>
              <a:t>Quiz / tools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1463040"/>
            <a:ext cx="4937760" cy="365760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0" y="1463040"/>
            <a:ext cx="4937760" cy="76200"/>
          </a:xfrm>
          <a:prstGeom prst="rect">
            <a:avLst/>
          </a:prstGeom>
          <a:solidFill>
            <a:srgbClr val="3B3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1691640"/>
            <a:ext cx="44805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3B3DBF"/>
                </a:solidFill>
                <a:latin typeface="Calibri"/>
              </a:rPr>
              <a:t>What we observe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Primary value is information &amp; awareness, not a transaction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Journeys end in “read / watch / learn”, not “buy / confirm”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No money actually moves inside the app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Content is the product — best consumed visually, at the user's own pace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D64F4F"/>
                </a:solidFill>
                <a:latin typeface="Calibri"/>
              </a:rPr>
              <a:t>Little for an end-to-end voice flow to complete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2578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B6177"/>
                </a:solidFill>
                <a:latin typeface="Calibri"/>
              </a:rPr>
              <a:t>Note: </a:t>
            </a:r>
            <a:r>
              <a:rPr sz="1200" b="0" i="0">
                <a:solidFill>
                  <a:srgbClr val="5B6177"/>
                </a:solidFill>
                <a:latin typeface="Calibri"/>
              </a:rPr>
              <a:t>replace placeholders with real screenshots from the Play Store / App Store build.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9A9FB3"/>
                </a:solidFill>
                <a:latin typeface="Calibri"/>
              </a:rPr>
              <a:t>Louie Voice SDK  |  Strategic Project Selection  |  Confidential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A9FB3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1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5A623"/>
                </a:solidFill>
                <a:latin typeface="Calibri"/>
              </a:rPr>
              <a:t>APP SNAPSHOT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Rapido — Bike-Taxi, Auto &amp; Cabs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828800" cy="3657600"/>
          </a:xfrm>
          <a:prstGeom prst="rect">
            <a:avLst/>
          </a:prstGeom>
          <a:solidFill>
            <a:srgbClr val="F4F5FA"/>
          </a:solidFill>
          <a:ln w="15875">
            <a:solidFill>
              <a:srgbClr val="9A9FB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6177"/>
                </a:solidFill>
                <a:latin typeface="Calibri"/>
              </a:rPr>
              <a:t>[ Paste screenshot here 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A9FB3"/>
                </a:solidFill>
                <a:latin typeface="Calibri"/>
              </a:rPr>
              <a:t>Enter destination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514600" y="1463040"/>
            <a:ext cx="1828800" cy="3657600"/>
          </a:xfrm>
          <a:prstGeom prst="rect">
            <a:avLst/>
          </a:prstGeom>
          <a:solidFill>
            <a:srgbClr val="F4F5FA"/>
          </a:solidFill>
          <a:ln w="15875">
            <a:solidFill>
              <a:srgbClr val="9A9FB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14600" y="306324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6177"/>
                </a:solidFill>
                <a:latin typeface="Calibri"/>
              </a:rPr>
              <a:t>[ Paste screenshot here 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A9FB3"/>
                </a:solidFill>
                <a:latin typeface="Calibri"/>
              </a:rPr>
              <a:t>Pick ride &amp; fare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463040"/>
            <a:ext cx="1828800" cy="3657600"/>
          </a:xfrm>
          <a:prstGeom prst="rect">
            <a:avLst/>
          </a:prstGeom>
          <a:solidFill>
            <a:srgbClr val="F4F5FA"/>
          </a:solidFill>
          <a:ln w="15875">
            <a:solidFill>
              <a:srgbClr val="9A9FB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306324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6177"/>
                </a:solidFill>
                <a:latin typeface="Calibri"/>
              </a:rPr>
              <a:t>[ Paste screenshot here 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A9FB3"/>
                </a:solidFill>
                <a:latin typeface="Calibri"/>
              </a:rPr>
              <a:t>Confirm &amp; pay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1463040"/>
            <a:ext cx="4937760" cy="365760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0" y="1463040"/>
            <a:ext cx="4937760" cy="762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1691640"/>
            <a:ext cx="44805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5A623"/>
                </a:solidFill>
                <a:latin typeface="Calibri"/>
              </a:rPr>
              <a:t>What we observe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A clear, repeatable transaction: search → select → pay → ride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High-frequency, habitual usage — done many times a week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Few decision variables: where to, which vehicle, confirm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Often used on the move, hands-busy — voice is genuinely useful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00B38A"/>
                </a:solidFill>
                <a:latin typeface="Calibri"/>
              </a:rPr>
              <a:t>A perfect end-to-end flow for Louie to 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2578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B6177"/>
                </a:solidFill>
                <a:latin typeface="Calibri"/>
              </a:rPr>
              <a:t>Note: </a:t>
            </a:r>
            <a:r>
              <a:rPr sz="1200" b="0" i="0">
                <a:solidFill>
                  <a:srgbClr val="5B6177"/>
                </a:solidFill>
                <a:latin typeface="Calibri"/>
              </a:rPr>
              <a:t>replace placeholders with real screenshots of the booking flow.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9A9FB3"/>
                </a:solidFill>
                <a:latin typeface="Calibri"/>
              </a:rPr>
              <a:t>Louie Voice SDK  |  Strategic Project Selection  |  Confidential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A9FB3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1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00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38A"/>
                </a:solidFill>
                <a:latin typeface="Calibri"/>
              </a:rPr>
              <a:t>HOW WE JUDGED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Our evaluation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B6177"/>
                </a:solidFill>
                <a:latin typeface="Calibri"/>
              </a:rPr>
              <a:t>Five criteria, each tied directly to how Louie creates and captures value.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11064240" cy="713232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67128"/>
            <a:ext cx="502920" cy="502920"/>
          </a:xfrm>
          <a:prstGeom prst="ellipse">
            <a:avLst/>
          </a:prstGeom>
          <a:solidFill>
            <a:srgbClr val="3B3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6712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057400"/>
            <a:ext cx="3108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41B41"/>
                </a:solidFill>
                <a:latin typeface="Calibri"/>
              </a:rPr>
              <a:t>Transaction fit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057400"/>
            <a:ext cx="6858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2536"/>
                </a:solidFill>
                <a:latin typeface="Calibri"/>
              </a:rPr>
              <a:t>Is the core journey an end-to-end transaction we can complete by voice?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43784"/>
            <a:ext cx="11064240" cy="713232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5800" y="2953512"/>
            <a:ext cx="502920" cy="502920"/>
          </a:xfrm>
          <a:prstGeom prst="ellipse">
            <a:avLst/>
          </a:prstGeom>
          <a:solidFill>
            <a:srgbClr val="3B3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95351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843784"/>
            <a:ext cx="3108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41B41"/>
                </a:solidFill>
                <a:latin typeface="Calibri"/>
              </a:rPr>
              <a:t>Decision simplicity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843784"/>
            <a:ext cx="6858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2536"/>
                </a:solidFill>
                <a:latin typeface="Calibri"/>
              </a:rPr>
              <a:t>Can a user comfortably delegate the decision to voice without hesitation?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630168"/>
            <a:ext cx="11064240" cy="713232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85800" y="3739896"/>
            <a:ext cx="502920" cy="502920"/>
          </a:xfrm>
          <a:prstGeom prst="ellipse">
            <a:avLst/>
          </a:prstGeom>
          <a:solidFill>
            <a:srgbClr val="3B3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39896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630168"/>
            <a:ext cx="3108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41B41"/>
                </a:solidFill>
                <a:latin typeface="Calibri"/>
              </a:rPr>
              <a:t>Market reach (TAM)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630168"/>
            <a:ext cx="6858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2536"/>
                </a:solidFill>
                <a:latin typeface="Calibri"/>
              </a:rPr>
              <a:t>How many people perform this action, and how often?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416552"/>
            <a:ext cx="11064240" cy="713232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85800" y="4526280"/>
            <a:ext cx="502920" cy="502920"/>
          </a:xfrm>
          <a:prstGeom prst="ellipse">
            <a:avLst/>
          </a:prstGeom>
          <a:solidFill>
            <a:srgbClr val="3B3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52628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4416552"/>
            <a:ext cx="3108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41B41"/>
                </a:solidFill>
                <a:latin typeface="Calibri"/>
              </a:rPr>
              <a:t>Inclusion impact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4416552"/>
            <a:ext cx="6858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2536"/>
                </a:solidFill>
                <a:latin typeface="Calibri"/>
              </a:rPr>
              <a:t>Does voice unlock a genuine, universal need for under-served users?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202936"/>
            <a:ext cx="11064240" cy="713232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85800" y="5312664"/>
            <a:ext cx="502920" cy="502920"/>
          </a:xfrm>
          <a:prstGeom prst="ellipse">
            <a:avLst/>
          </a:prstGeom>
          <a:solidFill>
            <a:srgbClr val="3B3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31266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5202936"/>
            <a:ext cx="3108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41B41"/>
                </a:solidFill>
                <a:latin typeface="Calibri"/>
              </a:rPr>
              <a:t>Multilingual relevance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5202936"/>
            <a:ext cx="6858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2536"/>
                </a:solidFill>
                <a:latin typeface="Calibri"/>
              </a:rPr>
              <a:t>Does a vernacular voice layer meaningfully widen the audience?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9A9FB3"/>
                </a:solidFill>
                <a:latin typeface="Calibri"/>
              </a:rPr>
              <a:t>Louie Voice SDK  |  Strategic Project Selection  |  Confidential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A9FB3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1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00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38A"/>
                </a:solidFill>
                <a:latin typeface="Calibri"/>
              </a:rPr>
              <a:t>REASON 1 · THE DECISIVE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It plays directly to end-to-end transactions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222536"/>
                </a:solidFill>
                <a:latin typeface="Calibri"/>
              </a:rPr>
              <a:t>Louie wins where there is a real transaction to finish by voice. Only one app has that.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440680" cy="27889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B3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331720"/>
            <a:ext cx="5440680" cy="548640"/>
          </a:xfrm>
          <a:prstGeom prst="rect">
            <a:avLst/>
          </a:prstGeom>
          <a:solidFill>
            <a:srgbClr val="00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5029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RAPIDO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17520"/>
            <a:ext cx="5029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Core journey IS a transaction: book → confirm → pay → ride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Voice can carry the user from intent to a completed booking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Showcases our headline differentiator in a single demo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331720"/>
            <a:ext cx="5440680" cy="2788920"/>
          </a:xfrm>
          <a:prstGeom prst="rect">
            <a:avLst/>
          </a:prstGeom>
          <a:solidFill>
            <a:srgbClr val="FFFFFF"/>
          </a:solidFill>
          <a:ln w="19050">
            <a:solidFill>
              <a:srgbClr val="3B3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2331720"/>
            <a:ext cx="5440680" cy="548640"/>
          </a:xfrm>
          <a:prstGeom prst="rect">
            <a:avLst/>
          </a:prstGeom>
          <a:solidFill>
            <a:srgbClr val="3B3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331720"/>
            <a:ext cx="5029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SAARTHI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017520"/>
            <a:ext cx="5029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An awareness / education app — no purchase happens in-app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Journeys end at “learn more”, not “transaction complete”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Little for an end-to-end voice flow to actually 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349240"/>
            <a:ext cx="11064240" cy="777240"/>
          </a:xfrm>
          <a:prstGeom prst="rect">
            <a:avLst/>
          </a:prstGeom>
          <a:solidFill>
            <a:srgbClr val="141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34924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0B38A"/>
                </a:solidFill>
                <a:latin typeface="Calibri"/>
              </a:rPr>
              <a:t>Takeaway:  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Rapido lets Louie demonstrate its #1 differentiator; Saarthi structurally cannot.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9A9FB3"/>
                </a:solidFill>
                <a:latin typeface="Calibri"/>
              </a:rPr>
              <a:t>Louie Voice SDK  |  Strategic Project Selection  | 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A9FB3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1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00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38A"/>
                </a:solidFill>
                <a:latin typeface="Calibri"/>
              </a:rPr>
              <a:t>REASON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Riding is a low-deliberation command; investing is not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222536"/>
                </a:solidFill>
                <a:latin typeface="Calibri"/>
              </a:rPr>
              <a:t>People happily delegate simple, habitual actions to voice — but not high-stakes financial decisions.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440680" cy="27889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B3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331720"/>
            <a:ext cx="5440680" cy="548640"/>
          </a:xfrm>
          <a:prstGeom prst="rect">
            <a:avLst/>
          </a:prstGeom>
          <a:solidFill>
            <a:srgbClr val="00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5029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RAPIDO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17520"/>
            <a:ext cx="5029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“Book an auto to home” — instant, low-stakes, repeatable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Few variables; the user already knows what they want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Mistakes are cheap and easily corrected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331720"/>
            <a:ext cx="5440680" cy="2788920"/>
          </a:xfrm>
          <a:prstGeom prst="rect">
            <a:avLst/>
          </a:prstGeom>
          <a:solidFill>
            <a:srgbClr val="FFFFFF"/>
          </a:solidFill>
          <a:ln w="19050">
            <a:solidFill>
              <a:srgbClr val="3B3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2331720"/>
            <a:ext cx="5440680" cy="548640"/>
          </a:xfrm>
          <a:prstGeom prst="rect">
            <a:avLst/>
          </a:prstGeom>
          <a:solidFill>
            <a:srgbClr val="3B3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331720"/>
            <a:ext cx="5029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SAARTHI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017520"/>
            <a:ext cx="5029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Investing needs research, comparison and deliberation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Users want to read, verify and reflect before acting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High stakes — people will not hand money decisions to voice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349240"/>
            <a:ext cx="11064240" cy="777240"/>
          </a:xfrm>
          <a:prstGeom prst="rect">
            <a:avLst/>
          </a:prstGeom>
          <a:solidFill>
            <a:srgbClr val="141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34924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0B38A"/>
                </a:solidFill>
                <a:latin typeface="Calibri"/>
              </a:rPr>
              <a:t>Takeaway:  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Voice automation adds most value for fast, habitual tasks — that is ride-booking, not investing.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9A9FB3"/>
                </a:solidFill>
                <a:latin typeface="Calibri"/>
              </a:rPr>
              <a:t>Louie Voice SDK  |  Strategic Project Selection  | 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A9FB3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1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00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38A"/>
                </a:solidFill>
                <a:latin typeface="Calibri"/>
              </a:rPr>
              <a:t>REASON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The addressable market is far larger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222536"/>
                </a:solidFill>
                <a:latin typeface="Calibri"/>
              </a:rPr>
              <a:t>Reach multiplies our impact. Far more people ride than invest — and they do it far more often.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440680" cy="27889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B3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331720"/>
            <a:ext cx="5440680" cy="548640"/>
          </a:xfrm>
          <a:prstGeom prst="rect">
            <a:avLst/>
          </a:prstGeom>
          <a:solidFill>
            <a:srgbClr val="00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5029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RAPIDO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17520"/>
            <a:ext cx="5029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Rapido: ~35–40 lakh rides per day (tens of millions of monthly users)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Ride-hailing is a daily, mass-market habit across cities &amp; towns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High frequency — multiple rides per user per week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331720"/>
            <a:ext cx="5440680" cy="2788920"/>
          </a:xfrm>
          <a:prstGeom prst="rect">
            <a:avLst/>
          </a:prstGeom>
          <a:solidFill>
            <a:srgbClr val="FFFFFF"/>
          </a:solidFill>
          <a:ln w="19050">
            <a:solidFill>
              <a:srgbClr val="3B3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2331720"/>
            <a:ext cx="5440680" cy="548640"/>
          </a:xfrm>
          <a:prstGeom prst="rect">
            <a:avLst/>
          </a:prstGeom>
          <a:solidFill>
            <a:srgbClr val="3B3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331720"/>
            <a:ext cx="5029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SAARTHI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017520"/>
            <a:ext cx="5029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India active demat accounts ≈ 19 crore, but unique investors are far fewer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Awareness-stage users invest rarely, if at all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Even fewer invest impulsively — the low-frequency edge case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349240"/>
            <a:ext cx="11064240" cy="777240"/>
          </a:xfrm>
          <a:prstGeom prst="rect">
            <a:avLst/>
          </a:prstGeom>
          <a:solidFill>
            <a:srgbClr val="141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34924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0B38A"/>
                </a:solidFill>
                <a:latin typeface="Calibri"/>
              </a:rPr>
              <a:t>Takeaway:  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More users × more frequency = far more voice interactions and a far bigger demo of our value.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9A9FB3"/>
                </a:solidFill>
                <a:latin typeface="Calibri"/>
              </a:rPr>
              <a:t>Louie Voice SDK  |  Strategic Project Selection  | 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A9FB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1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00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38A"/>
                </a:solidFill>
                <a:latin typeface="Calibri"/>
              </a:rPr>
              <a:t>REASON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Mobility is a universal need; voice makes it inclusive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222536"/>
                </a:solidFill>
                <a:latin typeface="Calibri"/>
              </a:rPr>
              <a:t>Voice should unlock essential daily life for the people who need it most.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440680" cy="27889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B3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331720"/>
            <a:ext cx="5440680" cy="548640"/>
          </a:xfrm>
          <a:prstGeom prst="rect">
            <a:avLst/>
          </a:prstGeom>
          <a:solidFill>
            <a:srgbClr val="00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5029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RAPIDO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17520"/>
            <a:ext cx="5029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Everyone needs to travel — a truly universal need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Helps low-literacy, vernacular &amp; visually-impaired users move independently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Hands-busy / on-the-go moments make voice genuinely useful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331720"/>
            <a:ext cx="5440680" cy="2788920"/>
          </a:xfrm>
          <a:prstGeom prst="rect">
            <a:avLst/>
          </a:prstGeom>
          <a:solidFill>
            <a:srgbClr val="FFFFFF"/>
          </a:solidFill>
          <a:ln w="19050">
            <a:solidFill>
              <a:srgbClr val="3B3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2331720"/>
            <a:ext cx="5440680" cy="548640"/>
          </a:xfrm>
          <a:prstGeom prst="rect">
            <a:avLst/>
          </a:prstGeom>
          <a:solidFill>
            <a:srgbClr val="3B3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331720"/>
            <a:ext cx="5029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SAARTHI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017520"/>
            <a:ext cx="5029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Investing is optional and niche, not a daily necessity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Under-served groups rarely have surplus income to invest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Accessibility upside is real but reaches far fewer people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349240"/>
            <a:ext cx="11064240" cy="777240"/>
          </a:xfrm>
          <a:prstGeom prst="rect">
            <a:avLst/>
          </a:prstGeom>
          <a:solidFill>
            <a:srgbClr val="141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34924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0B38A"/>
                </a:solidFill>
                <a:latin typeface="Calibri"/>
              </a:rPr>
              <a:t>Takeaway:  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Mobility delivers the broadest, most meaningful inclusion impact for a voice interface.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9A9FB3"/>
                </a:solidFill>
                <a:latin typeface="Calibri"/>
              </a:rPr>
              <a:t>Louie Voice SDK  |  Strategic Project Selection  | 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A9FB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1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00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38A"/>
                </a:solidFill>
                <a:latin typeface="Calibri"/>
              </a:rPr>
              <a:t>REASON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Vernacular voice widens Rapido's audience more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222536"/>
                </a:solidFill>
                <a:latin typeface="Calibri"/>
              </a:rPr>
              <a:t>Our multilingual edge matters most where the audience is large and not English-first.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440680" cy="27889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B3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331720"/>
            <a:ext cx="5440680" cy="548640"/>
          </a:xfrm>
          <a:prstGeom prst="rect">
            <a:avLst/>
          </a:prstGeom>
          <a:solidFill>
            <a:srgbClr val="00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5029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RAPIDO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17520"/>
            <a:ext cx="5029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Mass-market riders span many languages &amp; literacy levels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A vernacular voice layer removes the typing / English barrier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Directly grows the usable user base for the app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331720"/>
            <a:ext cx="5440680" cy="2788920"/>
          </a:xfrm>
          <a:prstGeom prst="rect">
            <a:avLst/>
          </a:prstGeom>
          <a:solidFill>
            <a:srgbClr val="FFFFFF"/>
          </a:solidFill>
          <a:ln w="19050">
            <a:solidFill>
              <a:srgbClr val="3B3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2331720"/>
            <a:ext cx="5440680" cy="548640"/>
          </a:xfrm>
          <a:prstGeom prst="rect">
            <a:avLst/>
          </a:prstGeom>
          <a:solidFill>
            <a:srgbClr val="3B3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331720"/>
            <a:ext cx="5029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SAARTHI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017520"/>
            <a:ext cx="5029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Awareness audience skews more urban, literate &amp; English-comfortable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Smaller base means smaller absolute language upside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536"/>
                </a:solidFill>
                <a:latin typeface="Calibri"/>
              </a:rPr>
              <a:t>Language helps, but on a much smaller population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349240"/>
            <a:ext cx="11064240" cy="777240"/>
          </a:xfrm>
          <a:prstGeom prst="rect">
            <a:avLst/>
          </a:prstGeom>
          <a:solidFill>
            <a:srgbClr val="141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34924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0B38A"/>
                </a:solidFill>
                <a:latin typeface="Calibri"/>
              </a:rPr>
              <a:t>Takeaway:  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Our multilingual strength compounds with Rapido's scale — bigger base, bigger payoff.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9A9FB3"/>
                </a:solidFill>
                <a:latin typeface="Calibri"/>
              </a:rPr>
              <a:t>Louie Voice SDK  |  Strategic Project Selection  | 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A9FB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1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5A623"/>
                </a:solidFill>
                <a:latin typeface="Calibri"/>
              </a:rPr>
              <a:t>QUANTITATIVE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The case, by the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B6177"/>
                </a:solidFill>
                <a:latin typeface="Calibri"/>
              </a:rPr>
              <a:t>Scale and frequency overwhelmingly favour mobility over investing.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65960"/>
            <a:ext cx="3611880" cy="196596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3611880" cy="76200"/>
          </a:xfrm>
          <a:prstGeom prst="rect">
            <a:avLst/>
          </a:prstGeom>
          <a:solidFill>
            <a:srgbClr val="00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48840"/>
            <a:ext cx="3154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0B38A"/>
                </a:solidFill>
                <a:latin typeface="Calibri"/>
              </a:rPr>
              <a:t>~35–40 lakh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41B41"/>
                </a:solidFill>
                <a:latin typeface="Calibri"/>
              </a:rPr>
              <a:t>Rapido rides booked per 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10712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B6177"/>
                </a:solidFill>
                <a:latin typeface="Calibri"/>
              </a:rPr>
              <a:t>A transaction Louie can complete, millions of times daily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965960"/>
            <a:ext cx="3611880" cy="196596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965960"/>
            <a:ext cx="3611880" cy="76200"/>
          </a:xfrm>
          <a:prstGeom prst="rect">
            <a:avLst/>
          </a:prstGeom>
          <a:solidFill>
            <a:srgbClr val="00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148840"/>
            <a:ext cx="3154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0B38A"/>
                </a:solidFill>
                <a:latin typeface="Calibri"/>
              </a:rPr>
              <a:t>Tens of
millions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06324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41B41"/>
                </a:solidFill>
                <a:latin typeface="Calibri"/>
              </a:rPr>
              <a:t>Monthly active Rapido users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410712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B6177"/>
                </a:solidFill>
                <a:latin typeface="Calibri"/>
              </a:rPr>
              <a:t>Huge base for vernacular, voice-led booking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965960"/>
            <a:ext cx="3611880" cy="196596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965960"/>
            <a:ext cx="3611880" cy="76200"/>
          </a:xfrm>
          <a:prstGeom prst="rect">
            <a:avLst/>
          </a:prstGeom>
          <a:solidFill>
            <a:srgbClr val="3B3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48840"/>
            <a:ext cx="3154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3B3DBF"/>
                </a:solidFill>
                <a:latin typeface="Calibri"/>
              </a:rPr>
              <a:t>≈ 80 crore+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06324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41B41"/>
                </a:solidFill>
                <a:latin typeface="Calibri"/>
              </a:rPr>
              <a:t>Smartphone users in India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410712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B6177"/>
                </a:solidFill>
                <a:latin typeface="Calibri"/>
              </a:rPr>
              <a:t>The reachable surface for a voice interface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114800"/>
            <a:ext cx="3611880" cy="196596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114800"/>
            <a:ext cx="3611880" cy="76200"/>
          </a:xfrm>
          <a:prstGeom prst="rect">
            <a:avLst/>
          </a:prstGeom>
          <a:solidFill>
            <a:srgbClr val="D64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297680"/>
            <a:ext cx="3154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D64F4F"/>
                </a:solidFill>
                <a:latin typeface="Calibri"/>
              </a:rPr>
              <a:t>≈ 19 crore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1208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41B41"/>
                </a:solidFill>
                <a:latin typeface="Calibri"/>
              </a:rPr>
              <a:t>Active demat accounts (investing)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559552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B6177"/>
                </a:solidFill>
                <a:latin typeface="Calibri"/>
              </a:rPr>
              <a:t>And unique investors are far fewer still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43400" y="4114800"/>
            <a:ext cx="3611880" cy="196596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43400" y="4114800"/>
            <a:ext cx="3611880" cy="76200"/>
          </a:xfrm>
          <a:prstGeom prst="rect">
            <a:avLst/>
          </a:prstGeom>
          <a:solidFill>
            <a:srgbClr val="D64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4297680"/>
            <a:ext cx="3154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D64F4F"/>
                </a:solidFill>
                <a:latin typeface="Calibri"/>
              </a:rPr>
              <a:t>Small %
of India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521208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41B41"/>
                </a:solidFill>
                <a:latin typeface="Calibri"/>
              </a:rPr>
              <a:t>Invests in markets at all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5559552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B6177"/>
                </a:solidFill>
                <a:latin typeface="Calibri"/>
              </a:rPr>
              <a:t>Even fewer invest impulsively — voice's weak spot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4114800"/>
            <a:ext cx="3611880" cy="196596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38160" y="4114800"/>
            <a:ext cx="3611880" cy="762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66760" y="4297680"/>
            <a:ext cx="3154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5A623"/>
                </a:solidFill>
                <a:latin typeface="Calibri"/>
              </a:rPr>
              <a:t>Daily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60" y="521208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41B41"/>
                </a:solidFill>
                <a:latin typeface="Calibri"/>
              </a:rPr>
              <a:t>Frequency of a commute vs. an investment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5559552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B6177"/>
                </a:solidFill>
                <a:latin typeface="Calibri"/>
              </a:rPr>
              <a:t>Rides recur daily; investing is occasional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17220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5B6177"/>
                </a:solidFill>
                <a:latin typeface="Calibri"/>
              </a:rPr>
              <a:t>Figures are approximate, directional public estimates — </a:t>
            </a:r>
            <a:r>
              <a:rPr sz="1050" b="0" i="0">
                <a:solidFill>
                  <a:srgbClr val="5B6177"/>
                </a:solidFill>
                <a:latin typeface="Calibri"/>
              </a:rPr>
              <a:t>verify and cite exact, dated sources before the final presentation.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9A9FB3"/>
                </a:solidFill>
                <a:latin typeface="Calibri"/>
              </a:rPr>
              <a:t>Louie Voice SDK  |  Strategic Project Selection  |  Confidential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A9FB3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1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3B3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B3DBF"/>
                </a:solidFill>
                <a:latin typeface="Calibri"/>
              </a:rPr>
              <a:t>SIDE BY SIDE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Comparison scorecard (qualitative)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852160" cy="603504"/>
          </a:xfrm>
          <a:prstGeom prst="rect">
            <a:avLst/>
          </a:prstGeom>
          <a:solidFill>
            <a:srgbClr val="141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1554480"/>
            <a:ext cx="2606040" cy="603504"/>
          </a:xfrm>
          <a:prstGeom prst="rect">
            <a:avLst/>
          </a:prstGeom>
          <a:solidFill>
            <a:srgbClr val="00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006840" y="1554480"/>
            <a:ext cx="2606040" cy="603504"/>
          </a:xfrm>
          <a:prstGeom prst="rect">
            <a:avLst/>
          </a:prstGeom>
          <a:solidFill>
            <a:srgbClr val="3B3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54480"/>
            <a:ext cx="55778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Criterion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26060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Rapido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6840" y="1554480"/>
            <a:ext cx="26060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Saarthi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157984"/>
            <a:ext cx="5852160" cy="603504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157984"/>
            <a:ext cx="2606040" cy="603504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006840" y="2157984"/>
            <a:ext cx="2606040" cy="603504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157984"/>
            <a:ext cx="55778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22536"/>
                </a:solidFill>
                <a:latin typeface="Calibri"/>
              </a:rPr>
              <a:t>End-to-end transaction fit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157984"/>
            <a:ext cx="26060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0B38A"/>
                </a:solidFill>
                <a:latin typeface="Calibri"/>
              </a:rPr>
              <a:t>High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2157984"/>
            <a:ext cx="26060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D64F4F"/>
                </a:solidFill>
                <a:latin typeface="Calibri"/>
              </a:rPr>
              <a:t>Low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61488"/>
            <a:ext cx="5852160" cy="6035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2761488"/>
            <a:ext cx="2606040" cy="6035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06840" y="2761488"/>
            <a:ext cx="2606040" cy="6035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2761488"/>
            <a:ext cx="55778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22536"/>
                </a:solidFill>
                <a:latin typeface="Calibri"/>
              </a:rPr>
              <a:t>Decision simplicity for voice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761488"/>
            <a:ext cx="26060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0B38A"/>
                </a:solidFill>
                <a:latin typeface="Calibri"/>
              </a:rPr>
              <a:t>High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2761488"/>
            <a:ext cx="26060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D64F4F"/>
                </a:solidFill>
                <a:latin typeface="Calibri"/>
              </a:rPr>
              <a:t>Low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364992"/>
            <a:ext cx="5852160" cy="603504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0" y="3364992"/>
            <a:ext cx="2606040" cy="603504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06840" y="3364992"/>
            <a:ext cx="2606040" cy="603504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364992"/>
            <a:ext cx="55778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22536"/>
                </a:solidFill>
                <a:latin typeface="Calibri"/>
              </a:rPr>
              <a:t>Market reach / frequency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364992"/>
            <a:ext cx="26060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0B38A"/>
                </a:solidFill>
                <a:latin typeface="Calibri"/>
              </a:rPr>
              <a:t>High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840" y="3364992"/>
            <a:ext cx="26060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D64F4F"/>
                </a:solidFill>
                <a:latin typeface="Calibri"/>
              </a:rPr>
              <a:t>Low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968496"/>
            <a:ext cx="5852160" cy="6035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0" y="3968496"/>
            <a:ext cx="2606040" cy="6035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06840" y="3968496"/>
            <a:ext cx="2606040" cy="6035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3968496"/>
            <a:ext cx="55778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22536"/>
                </a:solidFill>
                <a:latin typeface="Calibri"/>
              </a:rPr>
              <a:t>Inclusion impact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3968496"/>
            <a:ext cx="26060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0B38A"/>
                </a:solidFill>
                <a:latin typeface="Calibri"/>
              </a:rPr>
              <a:t>High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6840" y="3968496"/>
            <a:ext cx="26060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5A623"/>
                </a:solidFill>
                <a:latin typeface="Calibri"/>
              </a:rPr>
              <a:t>Medium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572000"/>
            <a:ext cx="5852160" cy="603504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4572000"/>
            <a:ext cx="2606040" cy="603504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006840" y="4572000"/>
            <a:ext cx="2606040" cy="603504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4572000"/>
            <a:ext cx="55778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22536"/>
                </a:solidFill>
                <a:latin typeface="Calibri"/>
              </a:rPr>
              <a:t>Multilingual upside (absolute)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4572000"/>
            <a:ext cx="26060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0B38A"/>
                </a:solidFill>
                <a:latin typeface="Calibri"/>
              </a:rPr>
              <a:t>High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06840" y="4572000"/>
            <a:ext cx="26060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5A623"/>
                </a:solidFill>
                <a:latin typeface="Calibri"/>
              </a:rPr>
              <a:t>Low–Med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5175504"/>
            <a:ext cx="5852160" cy="6035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5175504"/>
            <a:ext cx="2606040" cy="6035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06840" y="5175504"/>
            <a:ext cx="2606040" cy="6035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5175504"/>
            <a:ext cx="55778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22536"/>
                </a:solidFill>
                <a:latin typeface="Calibri"/>
              </a:rPr>
              <a:t>Fit with Louie differentiators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5175504"/>
            <a:ext cx="26060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0B38A"/>
                </a:solidFill>
                <a:latin typeface="Calibri"/>
              </a:rPr>
              <a:t>Strong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06840" y="5175504"/>
            <a:ext cx="26060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D64F4F"/>
                </a:solidFill>
                <a:latin typeface="Calibri"/>
              </a:rPr>
              <a:t>Weak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9A9FB3"/>
                </a:solidFill>
                <a:latin typeface="Calibri"/>
              </a:rPr>
              <a:t>Louie Voice SDK  |  Strategic Project Selection  |  Confidential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A9FB3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1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00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38A"/>
                </a:solidFill>
                <a:latin typeface="Calibri"/>
              </a:rPr>
              <a:t>DECISION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Weighted scoring matrix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B6177"/>
                </a:solidFill>
                <a:latin typeface="Calibri"/>
              </a:rPr>
              <a:t>Each criterion scored 0–10, weighted by importance to Louie's value. Totals are the weighted sums.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120640" cy="548640"/>
          </a:xfrm>
          <a:prstGeom prst="rect">
            <a:avLst/>
          </a:prstGeom>
          <a:solidFill>
            <a:srgbClr val="141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4937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Criterion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760720" y="1874519"/>
            <a:ext cx="1463040" cy="548640"/>
          </a:xfrm>
          <a:prstGeom prst="rect">
            <a:avLst/>
          </a:prstGeom>
          <a:solidFill>
            <a:srgbClr val="9A9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0" y="1874519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Weight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1874519"/>
            <a:ext cx="1600200" cy="548640"/>
          </a:xfrm>
          <a:prstGeom prst="rect">
            <a:avLst/>
          </a:prstGeom>
          <a:solidFill>
            <a:srgbClr val="00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1874519"/>
            <a:ext cx="1600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Rapido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06840" y="1874519"/>
            <a:ext cx="1600200" cy="548640"/>
          </a:xfrm>
          <a:prstGeom prst="rect">
            <a:avLst/>
          </a:prstGeom>
          <a:solidFill>
            <a:srgbClr val="3B3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6840" y="1874519"/>
            <a:ext cx="1600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Saarthi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98480" y="1874519"/>
            <a:ext cx="914400" cy="548640"/>
          </a:xfrm>
          <a:prstGeom prst="rect">
            <a:avLst/>
          </a:prstGeom>
          <a:solidFill>
            <a:srgbClr val="141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0" y="1874519"/>
            <a:ext cx="914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423159"/>
            <a:ext cx="5120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720" y="2423159"/>
            <a:ext cx="14630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2423159"/>
            <a:ext cx="16002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06840" y="2423159"/>
            <a:ext cx="16002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698480" y="2423159"/>
            <a:ext cx="9144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423159"/>
            <a:ext cx="4846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2536"/>
                </a:solidFill>
                <a:latin typeface="Calibri"/>
              </a:rPr>
              <a:t>Transaction fit (end-to-end)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2423159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5B6177"/>
                </a:solidFill>
                <a:latin typeface="Calibri"/>
              </a:rPr>
              <a:t>35%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2423159"/>
            <a:ext cx="1600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0B38A"/>
                </a:solidFill>
                <a:latin typeface="Calibri"/>
              </a:rPr>
              <a:t>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2423159"/>
            <a:ext cx="1600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2423159"/>
            <a:ext cx="914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0B38A"/>
                </a:solidFill>
                <a:latin typeface="Calibri"/>
              </a:rPr>
              <a:t>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2971799"/>
            <a:ext cx="5120640" cy="54864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760720" y="2971799"/>
            <a:ext cx="1463040" cy="54864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0" y="2971799"/>
            <a:ext cx="1600200" cy="54864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06840" y="2971799"/>
            <a:ext cx="1600200" cy="54864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698480" y="2971799"/>
            <a:ext cx="914400" cy="54864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2971799"/>
            <a:ext cx="4846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2536"/>
                </a:solidFill>
                <a:latin typeface="Calibri"/>
              </a:rPr>
              <a:t>Market reach / frequency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0" y="2971799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5B6177"/>
                </a:solidFill>
                <a:latin typeface="Calibri"/>
              </a:rPr>
              <a:t>20%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971799"/>
            <a:ext cx="1600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0B38A"/>
                </a:solidFill>
                <a:latin typeface="Calibri"/>
              </a:rPr>
              <a:t>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6840" y="2971799"/>
            <a:ext cx="1600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98480" y="2971799"/>
            <a:ext cx="914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0B38A"/>
                </a:solidFill>
                <a:latin typeface="Calibri"/>
              </a:rPr>
              <a:t>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520439"/>
            <a:ext cx="5120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760720" y="3520439"/>
            <a:ext cx="14630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315200" y="3520439"/>
            <a:ext cx="16002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006840" y="3520439"/>
            <a:ext cx="16002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698480" y="3520439"/>
            <a:ext cx="9144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3520439"/>
            <a:ext cx="4846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2536"/>
                </a:solidFill>
                <a:latin typeface="Calibri"/>
              </a:rPr>
              <a:t>Inclusion impact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60720" y="3520439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5B6177"/>
                </a:solidFill>
                <a:latin typeface="Calibri"/>
              </a:rPr>
              <a:t>15%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520439"/>
            <a:ext cx="1600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0B38A"/>
                </a:solidFill>
                <a:latin typeface="Calibri"/>
              </a:rPr>
              <a:t>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06840" y="3520439"/>
            <a:ext cx="1600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8480" y="3520439"/>
            <a:ext cx="914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0B38A"/>
                </a:solidFill>
                <a:latin typeface="Calibri"/>
              </a:rPr>
              <a:t>✓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4069079"/>
            <a:ext cx="5120640" cy="54864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60720" y="4069079"/>
            <a:ext cx="1463040" cy="54864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315200" y="4069079"/>
            <a:ext cx="1600200" cy="54864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006840" y="4069079"/>
            <a:ext cx="1600200" cy="54864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698480" y="4069079"/>
            <a:ext cx="914400" cy="54864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4069079"/>
            <a:ext cx="4846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2536"/>
                </a:solidFill>
                <a:latin typeface="Calibri"/>
              </a:rPr>
              <a:t>Multilingual impact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60720" y="4069079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5B6177"/>
                </a:solidFill>
                <a:latin typeface="Calibri"/>
              </a:rPr>
              <a:t>15%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0" y="4069079"/>
            <a:ext cx="1600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0B38A"/>
                </a:solidFill>
                <a:latin typeface="Calibri"/>
              </a:rPr>
              <a:t>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06840" y="4069079"/>
            <a:ext cx="1600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98480" y="4069079"/>
            <a:ext cx="914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0B38A"/>
                </a:solidFill>
                <a:latin typeface="Calibri"/>
              </a:rPr>
              <a:t>✓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4617719"/>
            <a:ext cx="5120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760720" y="4617719"/>
            <a:ext cx="14630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315200" y="4617719"/>
            <a:ext cx="16002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006840" y="4617719"/>
            <a:ext cx="16002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698480" y="4617719"/>
            <a:ext cx="9144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31520" y="4617719"/>
            <a:ext cx="4846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2536"/>
                </a:solidFill>
                <a:latin typeface="Calibri"/>
              </a:rPr>
              <a:t>Ease of voice adoption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760720" y="4617719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5B6177"/>
                </a:solidFill>
                <a:latin typeface="Calibri"/>
              </a:rPr>
              <a:t>15%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0" y="4617719"/>
            <a:ext cx="1600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0B38A"/>
                </a:solidFill>
                <a:latin typeface="Calibri"/>
              </a:rPr>
              <a:t>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06840" y="4617719"/>
            <a:ext cx="1600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3B3DBF"/>
                </a:solidFill>
                <a:latin typeface="Calibri"/>
              </a:rPr>
              <a:t>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98480" y="4617719"/>
            <a:ext cx="914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0B38A"/>
                </a:solidFill>
                <a:latin typeface="Calibri"/>
              </a:rPr>
              <a:t>✓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5166359"/>
            <a:ext cx="6583680" cy="548640"/>
          </a:xfrm>
          <a:prstGeom prst="rect">
            <a:avLst/>
          </a:prstGeom>
          <a:solidFill>
            <a:srgbClr val="141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1520" y="5166359"/>
            <a:ext cx="63093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Weighted total (out of 10)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315200" y="5166359"/>
            <a:ext cx="1600200" cy="548640"/>
          </a:xfrm>
          <a:prstGeom prst="rect">
            <a:avLst/>
          </a:prstGeom>
          <a:solidFill>
            <a:srgbClr val="00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315200" y="5166359"/>
            <a:ext cx="1600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9.5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006840" y="5166359"/>
            <a:ext cx="1600200" cy="548640"/>
          </a:xfrm>
          <a:prstGeom prst="rect">
            <a:avLst/>
          </a:prstGeom>
          <a:solidFill>
            <a:srgbClr val="3B3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006840" y="5166359"/>
            <a:ext cx="1600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4.5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698480" y="5166359"/>
            <a:ext cx="914400" cy="548640"/>
          </a:xfrm>
          <a:prstGeom prst="rect">
            <a:avLst/>
          </a:prstGeom>
          <a:solidFill>
            <a:srgbClr val="00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698480" y="5166359"/>
            <a:ext cx="914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5897879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41B41"/>
                </a:solidFill>
                <a:latin typeface="Calibri"/>
              </a:rPr>
              <a:t>Verdict:  </a:t>
            </a:r>
            <a:r>
              <a:rPr sz="1500" b="0" i="0">
                <a:solidFill>
                  <a:srgbClr val="222536"/>
                </a:solidFill>
                <a:latin typeface="Calibri"/>
              </a:rPr>
              <a:t>Rapido 9.5 vs Saarthi 4.5 — a decisive margin, driven mainly by transaction fit.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9A9FB3"/>
                </a:solidFill>
                <a:latin typeface="Calibri"/>
              </a:rPr>
              <a:t>Louie Voice SDK  |  Strategic Project Selection  |  Confidential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A9FB3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1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00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38A"/>
                </a:solidFill>
                <a:latin typeface="Calibri"/>
              </a:rPr>
              <a:t>COMMERCIAL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Why Rapido is the better bet for Louie's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B6177"/>
                </a:solidFill>
                <a:latin typeface="Calibri"/>
              </a:rPr>
              <a:t>If a stakeholder asks “How does Louie benefit commercially?” — the answer is stronger with Rapido.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65960"/>
            <a:ext cx="3611880" cy="182880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109728" cy="1828800"/>
          </a:xfrm>
          <a:prstGeom prst="rect">
            <a:avLst/>
          </a:prstGeom>
          <a:solidFill>
            <a:srgbClr val="00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6712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0B38A"/>
                </a:solidFill>
                <a:latin typeface="Calibri"/>
              </a:rPr>
              <a:t>High daily usage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4640"/>
            <a:ext cx="3154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22536"/>
                </a:solidFill>
                <a:latin typeface="Calibri"/>
              </a:rPr>
              <a:t>Recurring rides mean continuous, sticky engagement with the voice layer.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965960"/>
            <a:ext cx="3611880" cy="182880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965960"/>
            <a:ext cx="109728" cy="1828800"/>
          </a:xfrm>
          <a:prstGeom prst="rect">
            <a:avLst/>
          </a:prstGeom>
          <a:solidFill>
            <a:srgbClr val="3B3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16712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3B3DBF"/>
                </a:solidFill>
                <a:latin typeface="Calibri"/>
              </a:rPr>
              <a:t>Frequent voice interactions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834640"/>
            <a:ext cx="3154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22536"/>
                </a:solidFill>
                <a:latin typeface="Calibri"/>
              </a:rPr>
              <a:t>More sessions = more data to tune models and prove reliability.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965960"/>
            <a:ext cx="3611880" cy="182880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965960"/>
            <a:ext cx="109728" cy="18288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16712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5A623"/>
                </a:solidFill>
                <a:latin typeface="Calibri"/>
              </a:rPr>
              <a:t>Strong demo value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834640"/>
            <a:ext cx="3154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22536"/>
                </a:solidFill>
                <a:latin typeface="Calibri"/>
              </a:rPr>
              <a:t>“Book a ride end-to-end by voice” is an instantly compelling sales demo.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977640"/>
            <a:ext cx="3611880" cy="182880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977640"/>
            <a:ext cx="109728" cy="1828800"/>
          </a:xfrm>
          <a:prstGeom prst="rect">
            <a:avLst/>
          </a:prstGeom>
          <a:solidFill>
            <a:srgbClr val="00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17880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0B38A"/>
                </a:solidFill>
                <a:latin typeface="Calibri"/>
              </a:rPr>
              <a:t>Easier case-study generation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846320"/>
            <a:ext cx="3154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22536"/>
                </a:solidFill>
                <a:latin typeface="Calibri"/>
              </a:rPr>
              <a:t>High volume yields measurable adoption, retention and CSAT proof points.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43400" y="3977640"/>
            <a:ext cx="3611880" cy="182880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43400" y="3977640"/>
            <a:ext cx="109728" cy="1828800"/>
          </a:xfrm>
          <a:prstGeom prst="rect">
            <a:avLst/>
          </a:prstGeom>
          <a:solidFill>
            <a:srgbClr val="3B3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17720" y="417880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3B3DBF"/>
                </a:solidFill>
                <a:latin typeface="Calibri"/>
              </a:rPr>
              <a:t>Faster proof-of-concept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846320"/>
            <a:ext cx="3154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22536"/>
                </a:solidFill>
                <a:latin typeface="Calibri"/>
              </a:rPr>
              <a:t>A simple, bounded flow ships quickly and de-risks the engagement.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8160" y="3977640"/>
            <a:ext cx="3611880" cy="182880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38160" y="3977640"/>
            <a:ext cx="109728" cy="18288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0" y="417880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5A623"/>
                </a:solidFill>
                <a:latin typeface="Calibri"/>
              </a:rPr>
              <a:t>Expansion runway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846320"/>
            <a:ext cx="3154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22536"/>
                </a:solidFill>
                <a:latin typeface="Calibri"/>
              </a:rPr>
              <a:t>Same playbook extends to food delivery, logistics &amp; broader mobility.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17220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41B41"/>
                </a:solidFill>
                <a:latin typeface="Calibri"/>
              </a:rPr>
              <a:t>Bottom line: </a:t>
            </a:r>
            <a:r>
              <a:rPr sz="1200" b="0" i="0">
                <a:solidFill>
                  <a:srgbClr val="5B6177"/>
                </a:solidFill>
                <a:latin typeface="Calibri"/>
              </a:rPr>
              <a:t>Rapido offers faster time-to-value, a better showcase, and a clear path to adjacent transactional categories.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9A9FB3"/>
                </a:solidFill>
                <a:latin typeface="Calibri"/>
              </a:rPr>
              <a:t>Louie Voice SDK  |  Strategic Project Selection  |  Confidential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A9FB3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1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5A623"/>
                </a:solidFill>
                <a:latin typeface="Calibri"/>
              </a:rPr>
              <a:t>STRESS-TESTING THE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Counter-points &amp; our response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11064240" cy="1078992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63500" cy="107899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64208"/>
            <a:ext cx="10515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5A623"/>
                </a:solidFill>
                <a:latin typeface="Calibri"/>
              </a:rPr>
              <a:t>Concern:  </a:t>
            </a:r>
            <a:r>
              <a:rPr sz="1350" b="1" i="0">
                <a:solidFill>
                  <a:srgbClr val="222536"/>
                </a:solidFill>
                <a:latin typeface="Calibri"/>
              </a:rPr>
              <a:t>“Saarthi has SEBI / government backing — great for credibility.”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66544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00B38A"/>
                </a:solidFill>
                <a:latin typeface="Calibri"/>
              </a:rPr>
              <a:t>Response:  </a:t>
            </a:r>
            <a:r>
              <a:rPr sz="1350" b="0" i="0">
                <a:solidFill>
                  <a:srgbClr val="222536"/>
                </a:solidFill>
                <a:latin typeface="Calibri"/>
              </a:rPr>
              <a:t>Valuable, but it does not create an end-to-end transaction. We can pursue it later once capacity frees up, without spending our scarce slot on a weak differentiator fit.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724912"/>
            <a:ext cx="11064240" cy="1078992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724912"/>
            <a:ext cx="63500" cy="107899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834640"/>
            <a:ext cx="10515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5A623"/>
                </a:solidFill>
                <a:latin typeface="Calibri"/>
              </a:rPr>
              <a:t>Concern:  </a:t>
            </a:r>
            <a:r>
              <a:rPr sz="1350" b="1" i="0">
                <a:solidFill>
                  <a:srgbClr val="222536"/>
                </a:solidFill>
                <a:latin typeface="Calibri"/>
              </a:rPr>
              <a:t>“Fin-services is a high-value, premium segment.”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36976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00B38A"/>
                </a:solidFill>
                <a:latin typeface="Calibri"/>
              </a:rPr>
              <a:t>Response:  </a:t>
            </a:r>
            <a:r>
              <a:rPr sz="1350" b="0" i="0">
                <a:solidFill>
                  <a:srgbClr val="222536"/>
                </a:solidFill>
                <a:latin typeface="Calibri"/>
              </a:rPr>
              <a:t>True for trading apps that move money — not for an awareness app. The transactional fintech opportunity is a separate, future conversation.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895344"/>
            <a:ext cx="11064240" cy="1078992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95344"/>
            <a:ext cx="63500" cy="107899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05072"/>
            <a:ext cx="10515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5A623"/>
                </a:solidFill>
                <a:latin typeface="Calibri"/>
              </a:rPr>
              <a:t>Concern:  </a:t>
            </a:r>
            <a:r>
              <a:rPr sz="1350" b="1" i="0">
                <a:solidFill>
                  <a:srgbClr val="222536"/>
                </a:solidFill>
                <a:latin typeface="Calibri"/>
              </a:rPr>
              <a:t>“Rapido is a crowded mobility space.”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40740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00B38A"/>
                </a:solidFill>
                <a:latin typeface="Calibri"/>
              </a:rPr>
              <a:t>Response:  </a:t>
            </a:r>
            <a:r>
              <a:rPr sz="1350" b="0" i="0">
                <a:solidFill>
                  <a:srgbClr val="222536"/>
                </a:solidFill>
                <a:latin typeface="Calibri"/>
              </a:rPr>
              <a:t>The app is crowded; voice-completed booking is not. Our differentiator is the experience, not the category.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065776"/>
            <a:ext cx="11064240" cy="1078992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5065776"/>
            <a:ext cx="63500" cy="107899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175504"/>
            <a:ext cx="10515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5A623"/>
                </a:solidFill>
                <a:latin typeface="Calibri"/>
              </a:rPr>
              <a:t>Concern:  </a:t>
            </a:r>
            <a:r>
              <a:rPr sz="1350" b="1" i="0">
                <a:solidFill>
                  <a:srgbClr val="222536"/>
                </a:solidFill>
                <a:latin typeface="Calibri"/>
              </a:rPr>
              <a:t>“Accessibility matters for investing too.”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577840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00B38A"/>
                </a:solidFill>
                <a:latin typeface="Calibri"/>
              </a:rPr>
              <a:t>Response:  </a:t>
            </a:r>
            <a:r>
              <a:rPr sz="1350" b="0" i="0">
                <a:solidFill>
                  <a:srgbClr val="222536"/>
                </a:solidFill>
                <a:latin typeface="Calibri"/>
              </a:rPr>
              <a:t>Agreed — but mobility reaches a far larger, more universal population, so the same effort delivers more inclusion impact.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9A9FB3"/>
                </a:solidFill>
                <a:latin typeface="Calibri"/>
              </a:rPr>
              <a:t>Louie Voice SDK  |  Strategic Project Selection  |  Confidential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A9FB3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1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D64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D64F4F"/>
                </a:solidFill>
                <a:latin typeface="Calibri"/>
              </a:rPr>
              <a:t>PRACTICAL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Key risks &amp; mitigations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B6177"/>
                </a:solidFill>
                <a:latin typeface="Calibri"/>
              </a:rPr>
              <a:t>Voice-enabling a live transaction carries real-world risks — each has a practical mitigation.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20240"/>
            <a:ext cx="5257800" cy="566928"/>
          </a:xfrm>
          <a:prstGeom prst="rect">
            <a:avLst/>
          </a:prstGeom>
          <a:solidFill>
            <a:srgbClr val="D64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89320" y="1920240"/>
            <a:ext cx="5623560" cy="566928"/>
          </a:xfrm>
          <a:prstGeom prst="rect">
            <a:avLst/>
          </a:prstGeom>
          <a:solidFill>
            <a:srgbClr val="00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4983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920240"/>
            <a:ext cx="5349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Mitigation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87168"/>
            <a:ext cx="525780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89320" y="2487168"/>
            <a:ext cx="56235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487168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2536"/>
                </a:solidFill>
                <a:latin typeface="Calibri"/>
              </a:rPr>
              <a:t>Incorrect pickup / drop location captured via voice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487168"/>
            <a:ext cx="5303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2536"/>
                </a:solidFill>
                <a:latin typeface="Calibri"/>
              </a:rPr>
              <a:t>Explicit read-back &amp; confirmation step before booking; map pin preview.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127248"/>
            <a:ext cx="5257800" cy="64008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89320" y="3127248"/>
            <a:ext cx="5623560" cy="64008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127248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2536"/>
                </a:solidFill>
                <a:latin typeface="Calibri"/>
              </a:rPr>
              <a:t>Accent, dialect &amp; language variation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3127248"/>
            <a:ext cx="5303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2536"/>
                </a:solidFill>
                <a:latin typeface="Calibri"/>
              </a:rPr>
              <a:t>Multilingual model tuning; per-language acoustic &amp; vocabulary adaptation.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67328"/>
            <a:ext cx="525780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89320" y="3767328"/>
            <a:ext cx="56235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767328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2536"/>
                </a:solidFill>
                <a:latin typeface="Calibri"/>
              </a:rPr>
              <a:t>Noisy outdoor / on-the-move environment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3767328"/>
            <a:ext cx="5303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2536"/>
                </a:solidFill>
                <a:latin typeface="Calibri"/>
              </a:rPr>
              <a:t>Hybrid voice + touch fallback; noise-robust ASR and re-prompting.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407408"/>
            <a:ext cx="5257800" cy="64008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89320" y="4407408"/>
            <a:ext cx="5623560" cy="640080"/>
          </a:xfrm>
          <a:prstGeom prst="rect">
            <a:avLst/>
          </a:prstGeom>
          <a:solidFill>
            <a:srgbClr val="F4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407408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2536"/>
                </a:solidFill>
                <a:latin typeface="Calibri"/>
              </a:rPr>
              <a:t>Mis-triggered payment or wrong fare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4407408"/>
            <a:ext cx="5303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2536"/>
                </a:solidFill>
                <a:latin typeface="Calibri"/>
              </a:rPr>
              <a:t>Confirm amount aloud; require explicit “yes” before charging.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047488"/>
            <a:ext cx="525780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89320" y="5047488"/>
            <a:ext cx="56235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047488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2536"/>
                </a:solidFill>
                <a:latin typeface="Calibri"/>
              </a:rPr>
              <a:t>Recognition failure / user frustration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5047488"/>
            <a:ext cx="5303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2536"/>
                </a:solidFill>
                <a:latin typeface="Calibri"/>
              </a:rPr>
              <a:t>Graceful fallback to standard UI; never block the core booking flow.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79729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41B41"/>
                </a:solidFill>
                <a:latin typeface="Calibri"/>
              </a:rPr>
              <a:t>Note: </a:t>
            </a:r>
            <a:r>
              <a:rPr sz="1200" b="0" i="0">
                <a:solidFill>
                  <a:srgbClr val="5B6177"/>
                </a:solidFill>
                <a:latin typeface="Calibri"/>
              </a:rPr>
              <a:t>confirmation-first design keeps every voice transaction safe, reversible and trustworthy.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9A9FB3"/>
                </a:solidFill>
                <a:latin typeface="Calibri"/>
              </a:rPr>
              <a:t>Louie Voice SDK  |  Strategic Project Selection  |  Confidential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A9FB3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0B38A"/>
                </a:solidFill>
                <a:latin typeface="Calibri"/>
              </a:rPr>
              <a:t>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4300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Onboard </a:t>
            </a:r>
            <a:r>
              <a:rPr sz="3400" b="1" i="0">
                <a:solidFill>
                  <a:srgbClr val="00B38A"/>
                </a:solidFill>
                <a:latin typeface="Calibri"/>
              </a:rPr>
              <a:t>Rapido</a:t>
            </a:r>
            <a:r>
              <a:rPr sz="3400" b="1" i="0">
                <a:solidFill>
                  <a:srgbClr val="FFFFFF"/>
                </a:solidFill>
                <a:latin typeface="Calibri"/>
              </a:rPr>
              <a:t> — it is where Louie wins.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CFD3E6"/>
                </a:solidFill>
                <a:latin typeface="Calibri"/>
              </a:rPr>
              <a:t>It is the only option whose core journey is an end-to-end, multilingual transaction — our single strongest differentiator — at the largest scale and with the broadest inclusion impact.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Suggested next steps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886200"/>
            <a:ext cx="457200" cy="457200"/>
          </a:xfrm>
          <a:prstGeom prst="ellipse">
            <a:avLst/>
          </a:prstGeom>
          <a:solidFill>
            <a:srgbClr val="00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886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41B41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840480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E5E7F2"/>
                </a:solidFill>
                <a:latin typeface="Calibri"/>
              </a:rPr>
              <a:t>Confirm scope with Rapido: voice-enable the end-to-end booking flow first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453128"/>
            <a:ext cx="457200" cy="457200"/>
          </a:xfrm>
          <a:prstGeom prst="ellipse">
            <a:avLst/>
          </a:prstGeom>
          <a:solidFill>
            <a:srgbClr val="00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45312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41B41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440740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E5E7F2"/>
                </a:solidFill>
                <a:latin typeface="Calibri"/>
              </a:rPr>
              <a:t>Prioritise top vernacular languages by rider base for the voice layer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5020056"/>
            <a:ext cx="457200" cy="457200"/>
          </a:xfrm>
          <a:prstGeom prst="ellipse">
            <a:avLst/>
          </a:prstGeom>
          <a:solidFill>
            <a:srgbClr val="00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02005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41B41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974336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E5E7F2"/>
                </a:solidFill>
                <a:latin typeface="Calibri"/>
              </a:rPr>
              <a:t>Define a flagship demo: “Book a ride, by voice, in your language”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5586984"/>
            <a:ext cx="457200" cy="457200"/>
          </a:xfrm>
          <a:prstGeom prst="ellipse">
            <a:avLst/>
          </a:prstGeom>
          <a:solidFill>
            <a:srgbClr val="00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58698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41B41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541264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E5E7F2"/>
                </a:solidFill>
                <a:latin typeface="Calibri"/>
              </a:rPr>
              <a:t>Park Saarthi as a warm lead; revisit when capacity frees up or a transactional fintech use case emerges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9A9FB3"/>
                </a:solidFill>
                <a:latin typeface="Calibri"/>
              </a:rPr>
              <a:t>Louie Voice SDK  |  Strategic Project Selection  | 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A9FB3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1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5B6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B6177"/>
                </a:solidFill>
                <a:latin typeface="Calibri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References &amp; download links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41B41"/>
                </a:solidFill>
                <a:latin typeface="Calibri"/>
              </a:rPr>
              <a:t>Apps evaluated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22536"/>
                </a:solidFill>
                <a:latin typeface="Calibri"/>
              </a:rPr>
              <a:t>Saarthi (Android)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011680"/>
            <a:ext cx="79552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B3DBF"/>
                </a:solidFill>
                <a:latin typeface="Calibri"/>
              </a:rPr>
              <a:t>play.google.com/store/apps/details?id=com.sebi.invapp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22536"/>
                </a:solidFill>
                <a:latin typeface="Calibri"/>
              </a:rPr>
              <a:t>Rapido (Android)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423160"/>
            <a:ext cx="79552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B3DBF"/>
                </a:solidFill>
                <a:latin typeface="Calibri"/>
              </a:rPr>
              <a:t>play.google.com/store/apps/details?id=com.rapido.passenger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83464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22536"/>
                </a:solidFill>
                <a:latin typeface="Calibri"/>
              </a:rPr>
              <a:t>Saarthi (iOS)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834640"/>
            <a:ext cx="79552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B3DBF"/>
                </a:solidFill>
                <a:latin typeface="Calibri"/>
              </a:rPr>
              <a:t>apps.apple.com/in/app/saa₹thi/id1589426387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2461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22536"/>
                </a:solidFill>
                <a:latin typeface="Calibri"/>
              </a:rPr>
              <a:t>Rapido (iOS)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246120"/>
            <a:ext cx="79552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B3DBF"/>
                </a:solidFill>
                <a:latin typeface="Calibri"/>
              </a:rPr>
              <a:t>apps.apple.com/in/app/rapido-bike-taxi-auto-cabs/id1198464606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319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41B41"/>
                </a:solidFill>
                <a:latin typeface="Calibri"/>
              </a:rPr>
              <a:t>Louie reference demos (for context)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22536"/>
                </a:solidFill>
                <a:latin typeface="Calibri"/>
              </a:rPr>
              <a:t>Rapido booking with Louie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389120"/>
            <a:ext cx="6583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B3DBF"/>
                </a:solidFill>
                <a:latin typeface="Calibri"/>
              </a:rPr>
              <a:t>youtube.com/watch?v=-W22qTvvFS4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00600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22536"/>
                </a:solidFill>
                <a:latin typeface="Calibri"/>
              </a:rPr>
              <a:t>UPI transfer (showcased at GFF)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4800600"/>
            <a:ext cx="6583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B3DBF"/>
                </a:solidFill>
                <a:latin typeface="Calibri"/>
              </a:rPr>
              <a:t>youtube.com/shorts/fSic13x9Do4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212080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22536"/>
                </a:solidFill>
                <a:latin typeface="Calibri"/>
              </a:rPr>
              <a:t>Uber booking: Louie vs Google Assistant vs Siri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5212080"/>
            <a:ext cx="6583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B3DBF"/>
                </a:solidFill>
                <a:latin typeface="Calibri"/>
              </a:rPr>
              <a:t>see comparison links in brief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B6177"/>
                </a:solidFill>
                <a:latin typeface="Calibri"/>
              </a:rPr>
              <a:t>To finalise: </a:t>
            </a:r>
            <a:r>
              <a:rPr sz="1200" b="0" i="0">
                <a:solidFill>
                  <a:srgbClr val="5B6177"/>
                </a:solidFill>
                <a:latin typeface="Calibri"/>
              </a:rPr>
              <a:t>add real screenshots on slides 6 &amp; 7, fill in author/date on the title slide, and tailor any India-market stats you wish to cite.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9A9FB3"/>
                </a:solidFill>
                <a:latin typeface="Calibri"/>
              </a:rPr>
              <a:t>Louie Voice SDK  |  Strategic Project Selection  |  Confidential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A9FB3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