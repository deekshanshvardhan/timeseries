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0"/>
            <a:ext cx="4206240" cy="6858000"/>
          </a:xfrm>
          <a:prstGeom prst="rect">
            <a:avLst/>
          </a:prstGeom>
          <a:solidFill>
            <a:srgbClr val="1B2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0" y="0"/>
            <a:ext cx="50800" cy="685800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B38A"/>
                </a:solidFill>
                <a:latin typeface="Calibri"/>
              </a:rPr>
              <a:t>LOUIE VOICE SDK  ·  STRATEGIC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7315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Rapido over Saarthi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0" i="0">
                <a:solidFill>
                  <a:srgbClr val="9A9FB3"/>
                </a:solidFill>
                <a:latin typeface="Calibri"/>
              </a:rPr>
              <a:t>Which app should we voice-enable first?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132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 resource-crunch decision, made on first principles: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CFD3E6"/>
                </a:solidFill>
                <a:latin typeface="Calibri"/>
              </a:rPr>
              <a:t>Play to our core differentiator — end-to-end voice transactions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CFD3E6"/>
                </a:solidFill>
                <a:latin typeface="Calibri"/>
              </a:rPr>
              <a:t>Maximise reach — mass-market, habitual, low-deliberation usage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CFD3E6"/>
                </a:solidFill>
                <a:latin typeface="Calibri"/>
              </a:rPr>
              <a:t>Deliver inclusion impact — a universal everyday need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468880"/>
            <a:ext cx="3200400" cy="411480"/>
          </a:xfrm>
          <a:prstGeom prst="roundRect">
            <a:avLst>
              <a:gd name="adj" fmla="val 50000"/>
            </a:avLst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246888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97180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9A9FB3"/>
                </a:solidFill>
                <a:latin typeface="Calibri"/>
              </a:rPr>
              <a:t>GO WITH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0B38A"/>
                </a:solidFill>
                <a:latin typeface="Calibri"/>
              </a:rPr>
              <a:t>RAPIDO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42062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D3E6"/>
                </a:solidFill>
                <a:latin typeface="Calibri"/>
              </a:rPr>
              <a:t>Bike-Taxi, Auto &amp; Cabs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9FB3"/>
                </a:solidFill>
                <a:latin typeface="Calibri"/>
              </a:rPr>
              <a:t>Prepared by:  [Your Name]   |   Role: Business Analyst   |   Date: [DD Mon YYYY]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B38A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recommendation in one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22536"/>
                </a:solidFill>
                <a:latin typeface="Calibri"/>
              </a:rPr>
              <a:t>Choose </a:t>
            </a:r>
            <a:r>
              <a:rPr sz="1800" b="1" i="0">
                <a:solidFill>
                  <a:srgbClr val="00B38A"/>
                </a:solidFill>
                <a:latin typeface="Calibri"/>
              </a:rPr>
              <a:t>Rapido</a:t>
            </a:r>
            <a:r>
              <a:rPr sz="1800" b="0" i="0">
                <a:solidFill>
                  <a:srgbClr val="222536"/>
                </a:solidFill>
                <a:latin typeface="Calibri"/>
              </a:rPr>
              <a:t>. It is the only one of the two apps whose core user journey is an </a:t>
            </a:r>
            <a:r>
              <a:rPr sz="1800" b="1" i="0">
                <a:solidFill>
                  <a:srgbClr val="222536"/>
                </a:solidFill>
                <a:latin typeface="Calibri"/>
              </a:rPr>
              <a:t>end-to-end transaction</a:t>
            </a:r>
            <a:r>
              <a:rPr sz="1800" b="0" i="0">
                <a:solidFill>
                  <a:srgbClr val="222536"/>
                </a:solidFill>
                <a:latin typeface="Calibri"/>
              </a:rPr>
              <a:t> — exactly the capability that makes Louie unique.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697480" cy="324612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2697480" cy="7620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B38A"/>
                </a:solidFill>
                <a:latin typeface="Calibri"/>
              </a:rPr>
              <a:t>Differentiator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331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2536"/>
                </a:solidFill>
                <a:latin typeface="Calibri"/>
              </a:rPr>
              <a:t>Rapido = book → confirm → pay → ride, a true end-to-end transaction. Saarthi is an awareness / education app — there is no transaction to complete.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2468880"/>
            <a:ext cx="2697480" cy="324612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2468880"/>
            <a:ext cx="2697480" cy="7620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6974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B3DBF"/>
                </a:solidFill>
                <a:latin typeface="Calibri"/>
              </a:rPr>
              <a:t>Decision simplicity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383280"/>
            <a:ext cx="2331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2536"/>
                </a:solidFill>
                <a:latin typeface="Calibri"/>
              </a:rPr>
              <a:t>A ride is a low-stakes, habitual command (“Book an auto home”). Investing is high-stakes deliberation that users will not hand to voice.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2468880"/>
            <a:ext cx="2697480" cy="324612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2468880"/>
            <a:ext cx="2697480" cy="76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6974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A623"/>
                </a:solidFill>
                <a:latin typeface="Calibri"/>
              </a:rPr>
              <a:t>Market 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383280"/>
            <a:ext cx="2331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2536"/>
                </a:solidFill>
                <a:latin typeface="Calibri"/>
              </a:rPr>
              <a:t>Hundreds of millions ride; only a small, mostly urban minority of India invests — and even fewer invest impulsively.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34856" y="2468880"/>
            <a:ext cx="2697480" cy="324612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34856" y="2468880"/>
            <a:ext cx="2697480" cy="76200"/>
          </a:xfrm>
          <a:prstGeom prst="rect">
            <a:avLst/>
          </a:prstGeom>
          <a:solidFill>
            <a:srgbClr val="D6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6" y="26974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D64F4F"/>
                </a:solidFill>
                <a:latin typeface="Calibri"/>
              </a:rPr>
              <a:t>Inclusion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3383280"/>
            <a:ext cx="2331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2536"/>
                </a:solidFill>
                <a:latin typeface="Calibri"/>
              </a:rPr>
              <a:t>Mobility is a universal daily need. Voice unlocks it for low-literacy, vernacular and visually-impaired users far more broadly than investing does.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B3DBF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decision we have been asked to make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536"/>
                </a:solidFill>
                <a:latin typeface="Calibri"/>
              </a:rPr>
              <a:t>Two apps have approached us to voice-enable their product. Due to ongoing commitments, we can onboard </a:t>
            </a:r>
            <a:r>
              <a:rPr sz="1600" b="1" i="0">
                <a:solidFill>
                  <a:srgbClr val="222536"/>
                </a:solidFill>
                <a:latin typeface="Calibri"/>
              </a:rPr>
              <a:t>only one</a:t>
            </a:r>
            <a:r>
              <a:rPr sz="1600" b="0" i="0">
                <a:solidFill>
                  <a:srgbClr val="222536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3949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3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394960" cy="68580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4937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Saarthi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B3DBF"/>
                </a:solidFill>
                <a:latin typeface="Calibri"/>
              </a:rPr>
              <a:t>Investment awareness app by SEBI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536"/>
                </a:solidFill>
                <a:latin typeface="Calibri"/>
              </a:rPr>
              <a:t>Purpose: educate &amp; spread investor awareness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536"/>
                </a:solidFill>
                <a:latin typeface="Calibri"/>
              </a:rPr>
              <a:t>Content-led: articles, videos, quizzes, info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536"/>
                </a:solidFill>
                <a:latin typeface="Calibri"/>
              </a:rPr>
              <a:t>Audience: existing / aspiring retail investors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377440"/>
            <a:ext cx="53949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377440"/>
            <a:ext cx="5394960" cy="685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4937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Rapido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Bike-Taxi, Auto &amp; Cabs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1188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536"/>
                </a:solidFill>
                <a:latin typeface="Calibri"/>
              </a:rPr>
              <a:t>Purpose: book and complete a ride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536"/>
                </a:solidFill>
                <a:latin typeface="Calibri"/>
              </a:rPr>
              <a:t>Transaction-led: search → book → pay → travel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536"/>
                </a:solidFill>
                <a:latin typeface="Calibri"/>
              </a:rPr>
              <a:t>Audience: mass-market daily commuters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1B41"/>
                </a:solidFill>
                <a:latin typeface="Calibri"/>
              </a:rPr>
              <a:t>The question: </a:t>
            </a:r>
            <a:r>
              <a:rPr sz="1500" b="0" i="0">
                <a:solidFill>
                  <a:srgbClr val="222536"/>
                </a:solidFill>
                <a:latin typeface="Calibri"/>
              </a:rPr>
              <a:t>Which single app best lets Louie leverage its strengths and core differentiators?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B38A"/>
                </a:solidFill>
                <a:latin typeface="Calibri"/>
              </a:rPr>
              <a:t>OUR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CEO's guiding 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155448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76200" cy="155448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424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22536"/>
                </a:solidFill>
                <a:latin typeface="Calibri"/>
              </a:rPr>
              <a:t>“Whenever we are in a resource crunch, always select the project that lets us </a:t>
            </a:r>
            <a:r>
              <a:rPr sz="2000" b="1" i="0">
                <a:solidFill>
                  <a:srgbClr val="00B38A"/>
                </a:solidFill>
                <a:latin typeface="Calibri"/>
              </a:rPr>
              <a:t>leverage our strengths and our core differentiators</a:t>
            </a:r>
            <a:r>
              <a:rPr sz="2000" b="1" i="0">
                <a:solidFill>
                  <a:srgbClr val="222536"/>
                </a:solidFill>
                <a:latin typeface="Calibri"/>
              </a:rPr>
              <a:t>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41B41"/>
                </a:solidFill>
                <a:latin typeface="Calibri"/>
              </a:rPr>
              <a:t>So the whole decision reduces to one test: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11064240" cy="13716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4241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Which app's core journey is an </a:t>
            </a:r>
            <a:r>
              <a:rPr sz="2200" b="1" i="0">
                <a:solidFill>
                  <a:srgbClr val="00B38A"/>
                </a:solidFill>
                <a:latin typeface="Calibri"/>
              </a:rPr>
              <a:t>end-to-end transaction in the user's own language</a:t>
            </a:r>
            <a:r>
              <a:rPr sz="2200" b="0" i="0">
                <a:solidFill>
                  <a:srgbClr val="FFFFFF"/>
                </a:solidFill>
                <a:latin typeface="Calibri"/>
              </a:rPr>
              <a:t> — our single biggest differentiator?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B3DBF"/>
                </a:solidFill>
                <a:latin typeface="Calibri"/>
              </a:rPr>
              <a:t>WHAT MAKES US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Louie's core differentiators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40680" cy="201168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28016" cy="201168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B38A"/>
                </a:solidFill>
                <a:latin typeface="Calibri"/>
              </a:rPr>
              <a:t>End-to-end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536"/>
                </a:solidFill>
                <a:latin typeface="Calibri"/>
              </a:rPr>
              <a:t>Not just answering questions — Louie completes the whole task by voice, from intent to confirmation.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440680" cy="201168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128016" cy="201168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B3DBF"/>
                </a:solidFill>
                <a:latin typeface="Calibri"/>
              </a:rPr>
              <a:t>Multilingual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2316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536"/>
                </a:solidFill>
                <a:latin typeface="Calibri"/>
              </a:rPr>
              <a:t>Delivers a voice interface in many Indian languages, even when the app itself is English-only.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5440680" cy="201168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128016" cy="2011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A623"/>
                </a:solidFill>
                <a:latin typeface="Calibri"/>
              </a:rPr>
              <a:t>No global direct competitor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536"/>
                </a:solidFill>
                <a:latin typeface="Calibri"/>
              </a:rPr>
              <a:t>Google Assistant, Alexa and Siri trigger steps but do not complete end-to-end transactions.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94760"/>
            <a:ext cx="5440680" cy="201168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94760"/>
            <a:ext cx="128016" cy="2011680"/>
          </a:xfrm>
          <a:prstGeom prst="rect">
            <a:avLst/>
          </a:prstGeom>
          <a:solidFill>
            <a:srgbClr val="D6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02336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D64F4F"/>
                </a:solidFill>
                <a:latin typeface="Calibri"/>
              </a:rPr>
              <a:t>Sector-agnostic plug-in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6344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536"/>
                </a:solidFill>
                <a:latin typeface="Calibri"/>
              </a:rPr>
              <a:t>One SDK that voice-enables any mobile app on Android &amp; iOS.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1B41"/>
                </a:solidFill>
                <a:latin typeface="Calibri"/>
              </a:rPr>
              <a:t>Implication: </a:t>
            </a:r>
            <a:r>
              <a:rPr sz="1300" b="0" i="0">
                <a:solidFill>
                  <a:srgbClr val="5B6177"/>
                </a:solidFill>
                <a:latin typeface="Calibri"/>
              </a:rPr>
              <a:t>our value is highest where there is a real transaction to complete by voice.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B3DBF"/>
                </a:solidFill>
                <a:latin typeface="Calibri"/>
              </a:rPr>
              <a:t>APP SNAPSHOT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Saarthi — investment awareness (SEBI)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0" cy="3657600"/>
          </a:xfrm>
          <a:prstGeom prst="rect">
            <a:avLst/>
          </a:prstGeom>
          <a:solidFill>
            <a:srgbClr val="F4F5FA"/>
          </a:solidFill>
          <a:ln w="15875">
            <a:solidFill>
              <a:srgbClr val="9A9F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6177"/>
                </a:solidFill>
                <a:latin typeface="Calibri"/>
              </a:rPr>
              <a:t>[ Paste screenshot here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A9FB3"/>
                </a:solidFill>
                <a:latin typeface="Calibri"/>
              </a:rPr>
              <a:t>Home / learn feed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463040"/>
            <a:ext cx="1828800" cy="3657600"/>
          </a:xfrm>
          <a:prstGeom prst="rect">
            <a:avLst/>
          </a:prstGeom>
          <a:solidFill>
            <a:srgbClr val="F4F5FA"/>
          </a:solidFill>
          <a:ln w="15875">
            <a:solidFill>
              <a:srgbClr val="9A9F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0632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6177"/>
                </a:solidFill>
                <a:latin typeface="Calibri"/>
              </a:rPr>
              <a:t>[ Paste screenshot here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A9FB3"/>
                </a:solidFill>
                <a:latin typeface="Calibri"/>
              </a:rPr>
              <a:t>Article / video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1828800" cy="3657600"/>
          </a:xfrm>
          <a:prstGeom prst="rect">
            <a:avLst/>
          </a:prstGeom>
          <a:solidFill>
            <a:srgbClr val="F4F5FA"/>
          </a:solidFill>
          <a:ln w="15875">
            <a:solidFill>
              <a:srgbClr val="9A9F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0632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6177"/>
                </a:solidFill>
                <a:latin typeface="Calibri"/>
              </a:rPr>
              <a:t>[ Paste screenshot here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A9FB3"/>
                </a:solidFill>
                <a:latin typeface="Calibri"/>
              </a:rPr>
              <a:t>Quiz /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463040"/>
            <a:ext cx="4937760" cy="365760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463040"/>
            <a:ext cx="4937760" cy="7620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691640"/>
            <a:ext cx="44805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3B3DBF"/>
                </a:solidFill>
                <a:latin typeface="Calibri"/>
              </a:rPr>
              <a:t>What we observe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Primary value is information &amp; awareness, not a transaction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Journeys end in “read / watch / learn”, not “buy / confirm”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No money actually moves inside the app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Content is the product — best consumed visually, at the user's own pace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D64F4F"/>
                </a:solidFill>
                <a:latin typeface="Calibri"/>
              </a:rPr>
              <a:t>Little for an end-to-end voice flow to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6177"/>
                </a:solidFill>
                <a:latin typeface="Calibri"/>
              </a:rPr>
              <a:t>Note: </a:t>
            </a:r>
            <a:r>
              <a:rPr sz="1200" b="0" i="0">
                <a:solidFill>
                  <a:srgbClr val="5B6177"/>
                </a:solidFill>
                <a:latin typeface="Calibri"/>
              </a:rPr>
              <a:t>replace placeholders with real screenshots from the Play Store / App Store build.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APP SNAPSHOT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Rapido — Bike-Taxi, Auto &amp; Cabs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0" cy="3657600"/>
          </a:xfrm>
          <a:prstGeom prst="rect">
            <a:avLst/>
          </a:prstGeom>
          <a:solidFill>
            <a:srgbClr val="F4F5FA"/>
          </a:solidFill>
          <a:ln w="15875">
            <a:solidFill>
              <a:srgbClr val="9A9F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6177"/>
                </a:solidFill>
                <a:latin typeface="Calibri"/>
              </a:rPr>
              <a:t>[ Paste screenshot here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A9FB3"/>
                </a:solidFill>
                <a:latin typeface="Calibri"/>
              </a:rPr>
              <a:t>Enter destination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463040"/>
            <a:ext cx="1828800" cy="3657600"/>
          </a:xfrm>
          <a:prstGeom prst="rect">
            <a:avLst/>
          </a:prstGeom>
          <a:solidFill>
            <a:srgbClr val="F4F5FA"/>
          </a:solidFill>
          <a:ln w="15875">
            <a:solidFill>
              <a:srgbClr val="9A9F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0632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6177"/>
                </a:solidFill>
                <a:latin typeface="Calibri"/>
              </a:rPr>
              <a:t>[ Paste screenshot here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A9FB3"/>
                </a:solidFill>
                <a:latin typeface="Calibri"/>
              </a:rPr>
              <a:t>Pick ride &amp; fare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1828800" cy="3657600"/>
          </a:xfrm>
          <a:prstGeom prst="rect">
            <a:avLst/>
          </a:prstGeom>
          <a:solidFill>
            <a:srgbClr val="F4F5FA"/>
          </a:solidFill>
          <a:ln w="15875">
            <a:solidFill>
              <a:srgbClr val="9A9F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0632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6177"/>
                </a:solidFill>
                <a:latin typeface="Calibri"/>
              </a:rPr>
              <a:t>[ Paste screenshot here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A9FB3"/>
                </a:solidFill>
                <a:latin typeface="Calibri"/>
              </a:rPr>
              <a:t>Confirm &amp; pay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463040"/>
            <a:ext cx="4937760" cy="365760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463040"/>
            <a:ext cx="4937760" cy="76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691640"/>
            <a:ext cx="44805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5A623"/>
                </a:solidFill>
                <a:latin typeface="Calibri"/>
              </a:rPr>
              <a:t>What we observe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A clear, repeatable transaction: search → select → pay → ride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High-frequency, habitual usage — done many times a week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Few decision variables: where to, which vehicle, confirm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Often used on the move, hands-busy — voice is genuinely useful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00B38A"/>
                </a:solidFill>
                <a:latin typeface="Calibri"/>
              </a:rPr>
              <a:t>A perfect end-to-end flow for Louie to 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6177"/>
                </a:solidFill>
                <a:latin typeface="Calibri"/>
              </a:rPr>
              <a:t>Note: </a:t>
            </a:r>
            <a:r>
              <a:rPr sz="1200" b="0" i="0">
                <a:solidFill>
                  <a:srgbClr val="5B6177"/>
                </a:solidFill>
                <a:latin typeface="Calibri"/>
              </a:rPr>
              <a:t>replace placeholders with real screenshots of the booking 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B38A"/>
                </a:solidFill>
                <a:latin typeface="Calibri"/>
              </a:rPr>
              <a:t>HOW WE JUDGED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Our 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B6177"/>
                </a:solidFill>
                <a:latin typeface="Calibri"/>
              </a:rPr>
              <a:t>Five criteria, each tied directly to how Louie creates and captures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1064240" cy="71323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167128"/>
            <a:ext cx="502920" cy="502920"/>
          </a:xfrm>
          <a:prstGeom prst="ellipse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57400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1B41"/>
                </a:solidFill>
                <a:latin typeface="Calibri"/>
              </a:rPr>
              <a:t>Transaction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2536"/>
                </a:solidFill>
                <a:latin typeface="Calibri"/>
              </a:rPr>
              <a:t>Is the core journey an end-to-end transaction we can complete by voice?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43784"/>
            <a:ext cx="11064240" cy="71323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953512"/>
            <a:ext cx="502920" cy="502920"/>
          </a:xfrm>
          <a:prstGeom prst="ellipse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43784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1B41"/>
                </a:solidFill>
                <a:latin typeface="Calibri"/>
              </a:rPr>
              <a:t>Decision simplicity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43784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2536"/>
                </a:solidFill>
                <a:latin typeface="Calibri"/>
              </a:rPr>
              <a:t>Can a user comfortably delegate the decision to voice without hesitation?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30168"/>
            <a:ext cx="11064240" cy="71323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739896"/>
            <a:ext cx="502920" cy="502920"/>
          </a:xfrm>
          <a:prstGeom prst="ellipse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3989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30168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1B41"/>
                </a:solidFill>
                <a:latin typeface="Calibri"/>
              </a:rPr>
              <a:t>Market reach (TAM)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30168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2536"/>
                </a:solidFill>
                <a:latin typeface="Calibri"/>
              </a:rPr>
              <a:t>How many people perform this action, and how often?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16552"/>
            <a:ext cx="11064240" cy="71323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4526280"/>
            <a:ext cx="502920" cy="502920"/>
          </a:xfrm>
          <a:prstGeom prst="ellipse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26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16552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1B41"/>
                </a:solidFill>
                <a:latin typeface="Calibri"/>
              </a:rPr>
              <a:t>Inclusion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16552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2536"/>
                </a:solidFill>
                <a:latin typeface="Calibri"/>
              </a:rPr>
              <a:t>Does voice unlock a genuine, universal need for under-served users?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02936"/>
            <a:ext cx="11064240" cy="71323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5312664"/>
            <a:ext cx="502920" cy="502920"/>
          </a:xfrm>
          <a:prstGeom prst="ellipse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1266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202936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1B41"/>
                </a:solidFill>
                <a:latin typeface="Calibri"/>
              </a:rPr>
              <a:t>Multilingual relevance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202936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2536"/>
                </a:solidFill>
                <a:latin typeface="Calibri"/>
              </a:rPr>
              <a:t>Does a vernacular voice layer meaningfully widen the audience?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B38A"/>
                </a:solidFill>
                <a:latin typeface="Calibri"/>
              </a:rPr>
              <a:t>REASON 1 · THE DECISIVE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It plays directly to end-to-end 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536"/>
                </a:solidFill>
                <a:latin typeface="Calibri"/>
              </a:rPr>
              <a:t>Louie wins where there is a real transaction to finish by voice. Only one app has that.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4406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5440680" cy="54864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RAPIDO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Core journey IS a transaction: book → confirm → pay → ride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Voice can carry the user from intent to a completed booking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Showcases our headline differentiator in a single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331720"/>
            <a:ext cx="54406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3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331720"/>
            <a:ext cx="5440680" cy="54864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SAARTHI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An awareness / education app — no purchase happens in-app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Journeys end at “learn more”, not “transaction complete”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Little for an end-to-end voice flow to actually 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B38A"/>
                </a:solidFill>
                <a:latin typeface="Calibri"/>
              </a:rPr>
              <a:t>Takeaway: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Rapido lets Louie demonstrate its #1 differentiator; Saarthi structurally cannot.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B38A"/>
                </a:solidFill>
                <a:latin typeface="Calibri"/>
              </a:rPr>
              <a:t>REASON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Riding is a low-deliberation command; investing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536"/>
                </a:solidFill>
                <a:latin typeface="Calibri"/>
              </a:rPr>
              <a:t>People happily delegate simple, habitual actions to voice — but not high-stakes financial decisions.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4406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5440680" cy="54864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RAPIDO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“Book an auto to home” — instant, low-stakes, repeatable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Few variables; the user already knows what they want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Mistakes are cheap and easily corrected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331720"/>
            <a:ext cx="54406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3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331720"/>
            <a:ext cx="5440680" cy="54864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SAARTHI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Investing needs research, comparison and deliberation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Users want to read, verify and reflect before acting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High stakes — people will not hand money decisions to voice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B38A"/>
                </a:solidFill>
                <a:latin typeface="Calibri"/>
              </a:rPr>
              <a:t>Takeaway: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Voice automation adds most value for fast, habitual tasks — that is ride-booking, not investing.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B38A"/>
                </a:solidFill>
                <a:latin typeface="Calibri"/>
              </a:rPr>
              <a:t>REASON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addressable market is far larger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536"/>
                </a:solidFill>
                <a:latin typeface="Calibri"/>
              </a:rPr>
              <a:t>Reach multiplies our impact. Far more people ride than invest — and they do it far more often.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4406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5440680" cy="54864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RAPIDO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Ride-hailing is a daily, mass-market need across cities &amp; towns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High frequency — multiple rides per user per week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Drivers + riders both benefit from a voice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331720"/>
            <a:ext cx="54406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3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331720"/>
            <a:ext cx="5440680" cy="54864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SAARTHI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Only a small minority of India invests in markets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Awareness-stage users invest rarely, if at 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Even fewer invest impulsively — the low-frequency edge 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B38A"/>
                </a:solidFill>
                <a:latin typeface="Calibri"/>
              </a:rPr>
              <a:t>Takeaway: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More users × more frequency = far more voice interactions and a far bigger demo of our value.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B38A"/>
                </a:solidFill>
                <a:latin typeface="Calibri"/>
              </a:rPr>
              <a:t>REASON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Mobility is a universal need; voice makes it inclusive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536"/>
                </a:solidFill>
                <a:latin typeface="Calibri"/>
              </a:rPr>
              <a:t>Voice should unlock essential daily life for the people who need it most.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4406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5440680" cy="54864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RAPIDO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Everyone needs to travel — a truly universal need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Helps low-literacy, vernacular &amp; visually-impaired users move independently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Hands-busy / on-the-go moments make voice genuinely useful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331720"/>
            <a:ext cx="54406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3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331720"/>
            <a:ext cx="5440680" cy="54864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SAARTHI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Investing is optional and niche, not a daily necessity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Under-served groups rarely have surplus income to invest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Accessibility upside is real but reaches far fewer people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B38A"/>
                </a:solidFill>
                <a:latin typeface="Calibri"/>
              </a:rPr>
              <a:t>Takeaway: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Mobility delivers the broadest, most meaningful inclusion impact for a voice interface.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B38A"/>
                </a:solidFill>
                <a:latin typeface="Calibri"/>
              </a:rPr>
              <a:t>REASON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Vernacular voice widens Rapido's audience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536"/>
                </a:solidFill>
                <a:latin typeface="Calibri"/>
              </a:rPr>
              <a:t>Our multilingual edge matters most where the audience is large and not English-first.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4406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5440680" cy="54864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RAPIDO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Mass-market riders span many languages &amp; literacy levels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A vernacular voice layer removes the typing / English barrier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Directly grows the usable user base for the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331720"/>
            <a:ext cx="54406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3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331720"/>
            <a:ext cx="5440680" cy="54864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SAARTHI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Awareness audience skews more urban, literate &amp; English-comfortable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Smaller base means smaller absolute language upside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B3DBF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22536"/>
                </a:solidFill>
                <a:latin typeface="Calibri"/>
              </a:rPr>
              <a:t>Language helps, but on a much smaller population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B38A"/>
                </a:solidFill>
                <a:latin typeface="Calibri"/>
              </a:rPr>
              <a:t>Takeaway: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Our multilingual strength compounds with Rapido's scale — bigger base, bigger payoff.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B3DBF"/>
                </a:solidFill>
                <a:latin typeface="Calibri"/>
              </a:rPr>
              <a:t>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Comparison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852160" cy="603504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554480"/>
            <a:ext cx="2606040" cy="603504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06840" y="1554480"/>
            <a:ext cx="2606040" cy="603504"/>
          </a:xfrm>
          <a:prstGeom prst="rect">
            <a:avLst/>
          </a:prstGeom>
          <a:solidFill>
            <a:srgbClr val="3B3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577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Criterion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Rapido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554480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Saarthi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57984"/>
            <a:ext cx="5852160" cy="603504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157984"/>
            <a:ext cx="2606040" cy="603504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2157984"/>
            <a:ext cx="2606040" cy="603504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57984"/>
            <a:ext cx="5577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536"/>
                </a:solidFill>
                <a:latin typeface="Calibri"/>
              </a:rPr>
              <a:t>End-to-end transaction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57984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B38A"/>
                </a:solidFill>
                <a:latin typeface="Calibri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157984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64F4F"/>
                </a:solidFill>
                <a:latin typeface="Calibri"/>
              </a:rPr>
              <a:t>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61488"/>
            <a:ext cx="58521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761488"/>
            <a:ext cx="26060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2761488"/>
            <a:ext cx="26060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761488"/>
            <a:ext cx="5577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536"/>
                </a:solidFill>
                <a:latin typeface="Calibri"/>
              </a:rPr>
              <a:t>Decision simplicity for 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61488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B38A"/>
                </a:solidFill>
                <a:latin typeface="Calibri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761488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64F4F"/>
                </a:solidFill>
                <a:latin typeface="Calibri"/>
              </a:rPr>
              <a:t>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64992"/>
            <a:ext cx="5852160" cy="603504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364992"/>
            <a:ext cx="2606040" cy="603504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3364992"/>
            <a:ext cx="2606040" cy="603504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64992"/>
            <a:ext cx="5577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536"/>
                </a:solidFill>
                <a:latin typeface="Calibri"/>
              </a:rPr>
              <a:t>Market reach / frequency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64992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B38A"/>
                </a:solidFill>
                <a:latin typeface="Calibri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364992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64F4F"/>
                </a:solidFill>
                <a:latin typeface="Calibri"/>
              </a:rPr>
              <a:t>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68496"/>
            <a:ext cx="58521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968496"/>
            <a:ext cx="26060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3968496"/>
            <a:ext cx="26060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968496"/>
            <a:ext cx="5577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536"/>
                </a:solidFill>
                <a:latin typeface="Calibri"/>
              </a:rPr>
              <a:t>Inclusion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68496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B38A"/>
                </a:solidFill>
                <a:latin typeface="Calibri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968496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A623"/>
                </a:solidFill>
                <a:latin typeface="Calibri"/>
              </a:rPr>
              <a:t>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72000"/>
            <a:ext cx="5852160" cy="603504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572000"/>
            <a:ext cx="2606040" cy="603504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840" y="4572000"/>
            <a:ext cx="2606040" cy="603504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572000"/>
            <a:ext cx="5577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536"/>
                </a:solidFill>
                <a:latin typeface="Calibri"/>
              </a:rPr>
              <a:t>Multilingual upside (absolute)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72000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B38A"/>
                </a:solidFill>
                <a:latin typeface="Calibri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572000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A623"/>
                </a:solidFill>
                <a:latin typeface="Calibri"/>
              </a:rPr>
              <a:t>Low–Med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175504"/>
            <a:ext cx="58521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5175504"/>
            <a:ext cx="26060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06840" y="5175504"/>
            <a:ext cx="26060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175504"/>
            <a:ext cx="5577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536"/>
                </a:solidFill>
                <a:latin typeface="Calibri"/>
              </a:rPr>
              <a:t>Fit with Louie differentiators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175504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B38A"/>
                </a:solidFill>
                <a:latin typeface="Calibri"/>
              </a:rPr>
              <a:t>Strong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5175504"/>
            <a:ext cx="2606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D64F4F"/>
                </a:solidFill>
                <a:latin typeface="Calibri"/>
              </a:rPr>
              <a:t>Weak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STRESS-TESTING THE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Counter-points &amp; our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107899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63500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10515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5A623"/>
                </a:solidFill>
                <a:latin typeface="Calibri"/>
              </a:rPr>
              <a:t>Concern:  </a:t>
            </a:r>
            <a:r>
              <a:rPr sz="1350" b="1" i="0">
                <a:solidFill>
                  <a:srgbClr val="222536"/>
                </a:solidFill>
                <a:latin typeface="Calibri"/>
              </a:rPr>
              <a:t>“Saarthi has SEBI / government backing — great for credibility.”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66544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0B38A"/>
                </a:solidFill>
                <a:latin typeface="Calibri"/>
              </a:rPr>
              <a:t>Response:  </a:t>
            </a:r>
            <a:r>
              <a:rPr sz="1350" b="0" i="0">
                <a:solidFill>
                  <a:srgbClr val="222536"/>
                </a:solidFill>
                <a:latin typeface="Calibri"/>
              </a:rPr>
              <a:t>Valuable, but it does not create an end-to-end transaction. We can pursue it later once capacity frees up, without spending our scarce slot on a weak differentiator fit.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1064240" cy="107899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24912"/>
            <a:ext cx="63500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10515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5A623"/>
                </a:solidFill>
                <a:latin typeface="Calibri"/>
              </a:rPr>
              <a:t>Concern:  </a:t>
            </a:r>
            <a:r>
              <a:rPr sz="1350" b="1" i="0">
                <a:solidFill>
                  <a:srgbClr val="222536"/>
                </a:solidFill>
                <a:latin typeface="Calibri"/>
              </a:rPr>
              <a:t>“Fin-services is a high-value, premium segment.”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36976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0B38A"/>
                </a:solidFill>
                <a:latin typeface="Calibri"/>
              </a:rPr>
              <a:t>Response:  </a:t>
            </a:r>
            <a:r>
              <a:rPr sz="1350" b="0" i="0">
                <a:solidFill>
                  <a:srgbClr val="222536"/>
                </a:solidFill>
                <a:latin typeface="Calibri"/>
              </a:rPr>
              <a:t>True for trading apps that move money — not for an awareness app. The transactional fintech opportunity is a separate, future conversation.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95344"/>
            <a:ext cx="11064240" cy="107899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95344"/>
            <a:ext cx="63500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10515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5A623"/>
                </a:solidFill>
                <a:latin typeface="Calibri"/>
              </a:rPr>
              <a:t>Concern:  </a:t>
            </a:r>
            <a:r>
              <a:rPr sz="1350" b="1" i="0">
                <a:solidFill>
                  <a:srgbClr val="222536"/>
                </a:solidFill>
                <a:latin typeface="Calibri"/>
              </a:rPr>
              <a:t>“Rapido is a crowded mobility space.”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074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0B38A"/>
                </a:solidFill>
                <a:latin typeface="Calibri"/>
              </a:rPr>
              <a:t>Response:  </a:t>
            </a:r>
            <a:r>
              <a:rPr sz="1350" b="0" i="0">
                <a:solidFill>
                  <a:srgbClr val="222536"/>
                </a:solidFill>
                <a:latin typeface="Calibri"/>
              </a:rPr>
              <a:t>The app is crowded; voice-completed booking is not. Our differentiator is the experience, not the category.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65776"/>
            <a:ext cx="11064240" cy="107899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065776"/>
            <a:ext cx="63500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75504"/>
            <a:ext cx="10515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5A623"/>
                </a:solidFill>
                <a:latin typeface="Calibri"/>
              </a:rPr>
              <a:t>Concern:  </a:t>
            </a:r>
            <a:r>
              <a:rPr sz="1350" b="1" i="0">
                <a:solidFill>
                  <a:srgbClr val="222536"/>
                </a:solidFill>
                <a:latin typeface="Calibri"/>
              </a:rPr>
              <a:t>“Accessibility matters for investing too.”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0B38A"/>
                </a:solidFill>
                <a:latin typeface="Calibri"/>
              </a:rPr>
              <a:t>Response:  </a:t>
            </a:r>
            <a:r>
              <a:rPr sz="1350" b="0" i="0">
                <a:solidFill>
                  <a:srgbClr val="222536"/>
                </a:solidFill>
                <a:latin typeface="Calibri"/>
              </a:rPr>
              <a:t>Agreed — but mobility reaches a far larger, more universal population, so the same effort delivers more inclusion impact.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B38A"/>
                </a:solidFill>
                <a:latin typeface="Calibr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Onboard </a:t>
            </a:r>
            <a:r>
              <a:rPr sz="3400" b="1" i="0">
                <a:solidFill>
                  <a:srgbClr val="00B38A"/>
                </a:solidFill>
                <a:latin typeface="Calibri"/>
              </a:rPr>
              <a:t>Rapido</a:t>
            </a:r>
            <a:r>
              <a:rPr sz="3400" b="1" i="0">
                <a:solidFill>
                  <a:srgbClr val="FFFFFF"/>
                </a:solidFill>
                <a:latin typeface="Calibri"/>
              </a:rPr>
              <a:t> — it is where Louie wins.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FD3E6"/>
                </a:solidFill>
                <a:latin typeface="Calibri"/>
              </a:rPr>
              <a:t>It is the only option whose core journey is an end-to-end, multilingual transaction — our single strongest differentiator — at the largest scale and with the broadest inclusion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Suggested next steps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1B41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8404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5E7F2"/>
                </a:solidFill>
                <a:latin typeface="Calibri"/>
              </a:rPr>
              <a:t>Confirm scope with Rapido: voice-enable the end-to-end booking flow first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53128"/>
            <a:ext cx="457200" cy="457200"/>
          </a:xfrm>
          <a:prstGeom prst="ellipse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531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1B4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40740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5E7F2"/>
                </a:solidFill>
                <a:latin typeface="Calibri"/>
              </a:rPr>
              <a:t>Prioritise top vernacular languages by rider base for the voice layer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020056"/>
            <a:ext cx="457200" cy="457200"/>
          </a:xfrm>
          <a:prstGeom prst="ellipse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200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1B41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5E7F2"/>
                </a:solidFill>
                <a:latin typeface="Calibri"/>
              </a:rPr>
              <a:t>Define a flagship demo: “Book a ride, by voice, in your language”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586984"/>
            <a:ext cx="457200" cy="457200"/>
          </a:xfrm>
          <a:prstGeom prst="ellipse">
            <a:avLst/>
          </a:prstGeom>
          <a:solidFill>
            <a:srgbClr val="00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5869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1B41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541264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5E7F2"/>
                </a:solidFill>
                <a:latin typeface="Calibri"/>
              </a:rPr>
              <a:t>Park Saarthi as a warm lead; revisit when capacity frees up or a transactional fintech use case emerges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1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5B6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6177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References &amp; download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1B41"/>
                </a:solidFill>
                <a:latin typeface="Calibri"/>
              </a:rPr>
              <a:t>Apps evaluated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2536"/>
                </a:solidFill>
                <a:latin typeface="Calibri"/>
              </a:rPr>
              <a:t>Saarthi (Android)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B3DBF"/>
                </a:solidFill>
                <a:latin typeface="Calibri"/>
              </a:rPr>
              <a:t>play.google.com/store/apps/details?id=com.sebi.invapp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2536"/>
                </a:solidFill>
                <a:latin typeface="Calibri"/>
              </a:rPr>
              <a:t>Rapido (Android)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2316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B3DBF"/>
                </a:solidFill>
                <a:latin typeface="Calibri"/>
              </a:rPr>
              <a:t>play.google.com/store/apps/details?id=com.rapido.passenger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2536"/>
                </a:solidFill>
                <a:latin typeface="Calibri"/>
              </a:rPr>
              <a:t>Saarthi (iOS)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B3DBF"/>
                </a:solidFill>
                <a:latin typeface="Calibri"/>
              </a:rPr>
              <a:t>apps.apple.com/in/app/saa₹thi/id1589426387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2536"/>
                </a:solidFill>
                <a:latin typeface="Calibri"/>
              </a:rPr>
              <a:t>Rapido (iOS)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4612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B3DBF"/>
                </a:solidFill>
                <a:latin typeface="Calibri"/>
              </a:rPr>
              <a:t>apps.apple.com/in/app/rapido-bike-taxi-auto-cabs/id1198464606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1B41"/>
                </a:solidFill>
                <a:latin typeface="Calibri"/>
              </a:rPr>
              <a:t>Louie reference demos (for context)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2536"/>
                </a:solidFill>
                <a:latin typeface="Calibri"/>
              </a:rPr>
              <a:t>Rapido booking with Louie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38912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B3DBF"/>
                </a:solidFill>
                <a:latin typeface="Calibri"/>
              </a:rPr>
              <a:t>youtube.com/watch?v=-W22qTvvFS4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2536"/>
                </a:solidFill>
                <a:latin typeface="Calibri"/>
              </a:rPr>
              <a:t>UPI transfer (showcased at GFF)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80060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B3DBF"/>
                </a:solidFill>
                <a:latin typeface="Calibri"/>
              </a:rPr>
              <a:t>youtube.com/shorts/fSic13x9Do4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2536"/>
                </a:solidFill>
                <a:latin typeface="Calibri"/>
              </a:rPr>
              <a:t>Uber booking: Louie vs Google Assistant vs Siri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21208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B3DBF"/>
                </a:solidFill>
                <a:latin typeface="Calibri"/>
              </a:rPr>
              <a:t>see comparison links in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6177"/>
                </a:solidFill>
                <a:latin typeface="Calibri"/>
              </a:rPr>
              <a:t>To finalise: </a:t>
            </a:r>
            <a:r>
              <a:rPr sz="1200" b="0" i="0">
                <a:solidFill>
                  <a:srgbClr val="5B6177"/>
                </a:solidFill>
                <a:latin typeface="Calibri"/>
              </a:rPr>
              <a:t>add real screenshots on slides 6 &amp; 7, fill in author/date on the title slide, and tailor any India-market stats you wish to cite.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9FB3"/>
                </a:solidFill>
                <a:latin typeface="Calibri"/>
              </a:rPr>
              <a:t>Louie Voice SDK  |  Strategic Project Selection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A9FB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